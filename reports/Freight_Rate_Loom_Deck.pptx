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00000"/>
                </a:solidFill>
                <a:latin typeface="Arial"/>
              </a:defRPr>
            </a:pPr>
            <a:r>
              <a:rPr sz="1200" b="0" i="0" u="none" strike="noStrike">
                <a:solidFill>
                  <a:srgbClr val="000000"/>
                </a:solidFill>
                <a:latin typeface="Arial"/>
              </a:rPr>
              <a:t>Median % error, same 5 forward folds</a:t>
            </a:r>
          </a:p>
        </c:rich>
      </c:tx>
      <c:layout/>
      <c:overlay val="0"/>
    </c:title>
    <c:autoTitleDeleted val="0"/>
    <c:plotArea>
      <c:layout/>
      <c:barChart>
        <c:barDir val="col"/>
        <c:grouping val="clustered"/>
        <c:varyColors val="0"/>
        <c:ser>
          <c:idx val="0"/>
          <c:order val="0"/>
          <c:tx>
            <c:strRef>
              <c:f>Sheet1!$B$1</c:f>
              <c:strCache>
                <c:ptCount val="1"/>
                <c:pt idx="0">
                  <c:v>Median % error</c:v>
                </c:pt>
              </c:strCache>
            </c:strRef>
          </c:tx>
          <c:spPr>
            <a:solidFill>
              <a:srgbClr val="064A56"/>
            </a:solidFill>
            <a:effectLst/>
          </c:spPr>
          <c:invertIfNegative val="0"/>
          <c:dLbls>
            <c:numFmt formatCode="0.0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cat>
            <c:multiLvlStrRef>
              <c:f>Sheet1!$A$2:$A$5</c:f>
              <c:multiLvlStrCache>
                <c:ptCount val="4"/>
                <c:lvl>
                  <c:pt idx="0">
                    <c:v>Naive table</c:v>
                  </c:pt>
                  <c:pt idx="1">
                    <c:v>LightGBM base</c:v>
                  </c:pt>
                  <c:pt idx="2">
                    <c:v>+ market + recency</c:v>
                  </c:pt>
                  <c:pt idx="3">
                    <c:v>+ regime-aware qs</c:v>
                  </c:pt>
                </c:lvl>
              </c:multiLvlStrCache>
            </c:multiLvlStrRef>
          </c:cat>
          <c:val>
            <c:numRef>
              <c:f>Sheet1!$B$2:$B$5</c:f>
              <c:numCache>
                <c:formatCode>General</c:formatCode>
                <c:ptCount val="4"/>
                <c:pt idx="0">
                  <c:v>4.11</c:v>
                </c:pt>
                <c:pt idx="1">
                  <c:v>3.19</c:v>
                </c:pt>
                <c:pt idx="2">
                  <c:v>2.8</c:v>
                </c:pt>
                <c:pt idx="3">
                  <c:v>1.76</c:v>
                </c:pt>
              </c:numCache>
            </c:numRef>
          </c:val>
        </c:ser>
        <c:dLbls>
          <c:numFmt formatCode="0.0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in val="0"/>
        </c:scaling>
        <c:delete val="0"/>
        <c:axPos val="l"/>
        <c:majorGridlines>
          <c:spPr>
            <a:ln w="6350" cap="flat">
              <a:solidFill>
                <a:srgbClr val="E3E9E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seconds. The task is to train on January to October and predict November and December. The test is the future, and that shaped every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findings. Rate is driven by distance, equipment and weight. The test set is the future so validation must be by time. quote_signal switches meaning month to month and Nov and Dec look like August. market_index is a noisy daily reading. About 1.4 percent of labels are corrupted.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table, then the three concrete examples. Same issues exist in the validation data, so the same cleaning applies. Negative weights are sign flips. Missing weight is left missing for LightGBM. A date with no market reading gets no daily adjustment. Corrupted labels stay in the data but the L1 loss limits their influence, and I report metrics with and without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signal flips sign by month and is noise in August, November and December. I first excluded it, but that test was unfair because it trained on no noise month. With identical folds the regime-aware version wins on the five forward folds and on a causal noise-regime test where the model has seen part of August. The regime is knowable after the first seven days of a month. Caveat: only one noise month exists in the labels, so this is supported, not proven, for Nov and Dec.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test period is after the training period, so random splits leak daily market information. I use forward chaining: five folds, each trains on everything before and scores the next two months. The same model with random five-fold shows a lower error, so random validation overstates accuracy. The final model trains on all of January to October.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Gradient boosting for the nonlinear distance and geography effects, a log target because rates span a wide range, and an L1 objective because it targets the median and is robust to corrupted labels. Recency weights handle the level drift, a small linear term handles day-to-day market movement, and the regime-aware quote signal removes the sign-flipping noise.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Across five forward folds mean absolute error is about 111 dollars, median error 1.72 percent, mean error 4.73 percent or 2.47 excluding corrupted labels. August is the weak spot at 5.60 percent, because the early folds had never seen a noise month. Nov and Dec share that regime, so the test error could be higher than the headline. The December chart comes from the supplied score.py on the same final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layout, then three snippets. Features use only feature columns, never labels. The model is a LightGBM ensemble with recency weights. Validation is forward chaining. Then run the tests and the scorer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honest risks. The December level is extrapolated. Only one noise-regime month exists in the labels. The daily market feature assumes same-day and same-month rows are available at scoring time. Corrupted labels set a floor on mean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part of the deck narration; use it as a script outline. Roughly: 30 seconds findings, 30 seconds data quality, 30 seconds model, 45 seconds validation, 45 seconds code and live commands.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4A56"/>
        </a:solidFill>
      </p:bgPr>
    </p:bg>
    <p:spTree>
      <p:nvGrpSpPr>
        <p:cNvPr id="1" name=""/>
        <p:cNvGrpSpPr/>
        <p:nvPr/>
      </p:nvGrpSpPr>
      <p:grpSpPr>
        <a:xfrm>
          <a:off x="0" y="0"/>
          <a:ext cx="0" cy="0"/>
          <a:chOff x="0" y="0"/>
          <a:chExt cx="0" cy="0"/>
        </a:xfrm>
      </p:grpSpPr>
      <p:sp>
        <p:nvSpPr>
          <p:cNvPr id="2" name="Text 0"/>
          <p:cNvSpPr/>
          <p:nvPr/>
        </p:nvSpPr>
        <p:spPr>
          <a:xfrm>
            <a:off x="640080" y="1463040"/>
            <a:ext cx="7863840" cy="91440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Freight Rate Prediction</a:t>
            </a:r>
            <a:endParaRPr lang="en-US" sz="4000" dirty="0"/>
          </a:p>
        </p:txBody>
      </p:sp>
      <p:sp>
        <p:nvSpPr>
          <p:cNvPr id="3" name="Text 1"/>
          <p:cNvSpPr/>
          <p:nvPr/>
        </p:nvSpPr>
        <p:spPr>
          <a:xfrm>
            <a:off x="640080" y="2468880"/>
            <a:ext cx="7863840" cy="457200"/>
          </a:xfrm>
          <a:prstGeom prst="rect">
            <a:avLst/>
          </a:prstGeom>
          <a:noFill/>
          <a:ln/>
        </p:spPr>
        <p:txBody>
          <a:bodyPr wrap="square" lIns="0" tIns="0" rIns="0" bIns="0" rtlCol="0" anchor="ctr"/>
          <a:lstStyle/>
          <a:p>
            <a:pPr indent="0" marL="0">
              <a:buNone/>
            </a:pPr>
            <a:r>
              <a:rPr lang="en-US" sz="1800" dirty="0">
                <a:solidFill>
                  <a:srgbClr val="CFE3E7"/>
                </a:solidFill>
                <a:latin typeface="Calibri" pitchFamily="34" charset="0"/>
                <a:ea typeface="Calibri" pitchFamily="34" charset="-122"/>
                <a:cs typeface="Calibri" pitchFamily="34" charset="-120"/>
              </a:rPr>
              <a:t>ML Engineer assessment: findings, validation and model</a:t>
            </a:r>
            <a:endParaRPr lang="en-US" sz="1800" dirty="0"/>
          </a:p>
        </p:txBody>
      </p:sp>
      <p:sp>
        <p:nvSpPr>
          <p:cNvPr id="4" name="Text 2"/>
          <p:cNvSpPr/>
          <p:nvPr/>
        </p:nvSpPr>
        <p:spPr>
          <a:xfrm>
            <a:off x="640080" y="3017520"/>
            <a:ext cx="7863840" cy="365760"/>
          </a:xfrm>
          <a:prstGeom prst="rect">
            <a:avLst/>
          </a:prstGeom>
          <a:noFill/>
          <a:ln/>
        </p:spPr>
        <p:txBody>
          <a:bodyPr wrap="square" lIns="0" tIns="0" rIns="0" bIns="0" rtlCol="0" anchor="ctr"/>
          <a:lstStyle/>
          <a:p>
            <a:pPr indent="0" marL="0">
              <a:buNone/>
            </a:pPr>
            <a:r>
              <a:rPr lang="en-US" sz="1400" dirty="0">
                <a:solidFill>
                  <a:srgbClr val="CFE3E7"/>
                </a:solidFill>
                <a:latin typeface="Calibri" pitchFamily="34" charset="0"/>
                <a:ea typeface="Calibri" pitchFamily="34" charset="-122"/>
                <a:cs typeface="Calibri" pitchFamily="34" charset="-120"/>
              </a:rPr>
              <a:t>Predict 12,000 Nov-Dec 2025 loads from 48,000 Jan-Oct loads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64A56"/>
          </a:solidFill>
          <a:ln w="12700">
            <a:solidFill>
              <a:srgbClr val="064A56"/>
            </a:solidFill>
            <a:prstDash val="solid"/>
          </a:ln>
        </p:spPr>
      </p:sp>
      <p:sp>
        <p:nvSpPr>
          <p:cNvPr id="3" name="Text 1"/>
          <p:cNvSpPr/>
          <p:nvPr/>
        </p:nvSpPr>
        <p:spPr>
          <a:xfrm>
            <a:off x="457200" y="182880"/>
            <a:ext cx="8229600" cy="548640"/>
          </a:xfrm>
          <a:prstGeom prst="rect">
            <a:avLst/>
          </a:prstGeom>
          <a:noFill/>
          <a:ln/>
        </p:spPr>
        <p:txBody>
          <a:bodyPr wrap="square" lIns="0" tIns="0" rIns="0" bIns="0" rtlCol="0" anchor="ctr"/>
          <a:lstStyle/>
          <a:p>
            <a:pPr indent="0" marL="0">
              <a:buNone/>
            </a:pPr>
            <a:r>
              <a:rPr lang="en-US" sz="2400" b="1" dirty="0">
                <a:solidFill>
                  <a:srgbClr val="064A56"/>
                </a:solidFill>
                <a:latin typeface="Calibri" pitchFamily="34" charset="0"/>
                <a:ea typeface="Calibri" pitchFamily="34" charset="-122"/>
                <a:cs typeface="Calibri" pitchFamily="34" charset="-120"/>
              </a:rPr>
              <a:t>Key findings from exploring the data</a:t>
            </a:r>
            <a:endParaRPr lang="en-US" sz="2400" dirty="0"/>
          </a:p>
        </p:txBody>
      </p:sp>
      <p:sp>
        <p:nvSpPr>
          <p:cNvPr id="5" name="Text 2"/>
          <p:cNvSpPr/>
          <p:nvPr/>
        </p:nvSpPr>
        <p:spPr>
          <a:xfrm>
            <a:off x="457200" y="914400"/>
            <a:ext cx="4206240" cy="3566160"/>
          </a:xfrm>
          <a:prstGeom prst="rect">
            <a:avLst/>
          </a:prstGeom>
          <a:noFill/>
          <a:ln/>
        </p:spPr>
        <p:txBody>
          <a:bodyPr wrap="square" rtlCol="0" anchor="t"/>
          <a:lstStyle/>
          <a:p>
            <a:pPr marL="342900" indent="-342900">
              <a:spcAft>
                <a:spcPts val="600"/>
              </a:spcAft>
              <a:buSzPct val="100000"/>
              <a:buChar char="•"/>
            </a:pPr>
            <a:r>
              <a:rPr lang="en-US" sz="1300" dirty="0">
                <a:solidFill>
                  <a:srgbClr val="222222"/>
                </a:solidFill>
                <a:latin typeface="Calibri" pitchFamily="34" charset="0"/>
                <a:ea typeface="Calibri" pitchFamily="34" charset="-122"/>
                <a:cs typeface="Calibri" pitchFamily="34" charset="-120"/>
              </a:rPr>
              <a:t>Rate driven by distance, equipment, weight; $/mile falls with distance; Reefer &gt; Flatbed &gt; Van</a:t>
            </a:r>
            <a:endParaRPr lang="en-US" sz="1300" dirty="0"/>
          </a:p>
          <a:p>
            <a:pPr marL="342900" indent="-342900">
              <a:spcAft>
                <a:spcPts val="600"/>
              </a:spcAft>
              <a:buSzPct val="100000"/>
              <a:buChar char="•"/>
            </a:pPr>
            <a:r>
              <a:rPr lang="en-US" sz="1300" dirty="0">
                <a:solidFill>
                  <a:srgbClr val="222222"/>
                </a:solidFill>
                <a:latin typeface="Calibri" pitchFamily="34" charset="0"/>
                <a:ea typeface="Calibri" pitchFamily="34" charset="-122"/>
                <a:cs typeface="Calibri" pitchFamily="34" charset="-120"/>
              </a:rPr>
              <a:t>Test set is the future (Nov-Dec): validate by time, not at random</a:t>
            </a:r>
            <a:endParaRPr lang="en-US" sz="1300" dirty="0"/>
          </a:p>
          <a:p>
            <a:pPr marL="342900" indent="-342900">
              <a:spcAft>
                <a:spcPts val="600"/>
              </a:spcAft>
              <a:buSzPct val="100000"/>
              <a:buChar char="•"/>
            </a:pPr>
            <a:r>
              <a:rPr lang="en-US" sz="1300" dirty="0">
                <a:solidFill>
                  <a:srgbClr val="222222"/>
                </a:solidFill>
                <a:latin typeface="Calibri" pitchFamily="34" charset="0"/>
                <a:ea typeface="Calibri" pitchFamily="34" charset="-122"/>
                <a:cs typeface="Calibri" pitchFamily="34" charset="-120"/>
              </a:rPr>
              <a:t>quote_signal flips meaning by month: positive, negative, or pure noise (Nov-Dec = noise, like Aug)</a:t>
            </a:r>
            <a:endParaRPr lang="en-US" sz="1300" dirty="0"/>
          </a:p>
          <a:p>
            <a:pPr marL="342900" indent="-342900">
              <a:spcAft>
                <a:spcPts val="600"/>
              </a:spcAft>
              <a:buSzPct val="100000"/>
              <a:buChar char="•"/>
            </a:pPr>
            <a:r>
              <a:rPr lang="en-US" sz="1300" dirty="0">
                <a:solidFill>
                  <a:srgbClr val="222222"/>
                </a:solidFill>
                <a:latin typeface="Calibri" pitchFamily="34" charset="0"/>
                <a:ea typeface="Calibri" pitchFamily="34" charset="-122"/>
                <a:cs typeface="Calibri" pitchFamily="34" charset="-120"/>
              </a:rPr>
              <a:t>market_index is a noisy daily reading: use the daily mean</a:t>
            </a:r>
            <a:endParaRPr lang="en-US" sz="1300" dirty="0"/>
          </a:p>
          <a:p>
            <a:pPr marL="342900" indent="-342900">
              <a:spcAft>
                <a:spcPts val="600"/>
              </a:spcAft>
              <a:buSzPct val="100000"/>
              <a:buChar char="•"/>
            </a:pPr>
            <a:r>
              <a:rPr lang="en-US" sz="1300" dirty="0">
                <a:solidFill>
                  <a:srgbClr val="222222"/>
                </a:solidFill>
                <a:latin typeface="Calibri" pitchFamily="34" charset="0"/>
                <a:ea typeface="Calibri" pitchFamily="34" charset="-122"/>
                <a:cs typeface="Calibri" pitchFamily="34" charset="-120"/>
              </a:rPr>
              <a:t>~1.4% of labels corrupted (0.2-0.4x or 2.3-5x of lane median)</a:t>
            </a:r>
            <a:endParaRPr lang="en-US" sz="1300" dirty="0"/>
          </a:p>
          <a:p>
            <a:pPr marL="342900" indent="-342900">
              <a:spcAft>
                <a:spcPts val="600"/>
              </a:spcAft>
              <a:buSzPct val="100000"/>
              <a:buChar char="•"/>
            </a:pPr>
            <a:r>
              <a:rPr lang="en-US" sz="1300" dirty="0">
                <a:solidFill>
                  <a:srgbClr val="222222"/>
                </a:solidFill>
                <a:latin typeface="Calibri" pitchFamily="34" charset="0"/>
                <a:ea typeface="Calibri" pitchFamily="34" charset="-122"/>
                <a:cs typeface="Calibri" pitchFamily="34" charset="-120"/>
              </a:rPr>
              <a:t>Rate level drifts by month, so recent data matters more</a:t>
            </a:r>
            <a:endParaRPr lang="en-US" sz="1300" dirty="0"/>
          </a:p>
        </p:txBody>
      </p:sp>
      <p:pic>
        <p:nvPicPr>
          <p:cNvPr id="6" name="Image 0" descr="/mnt/user-data/outputs/freight-rate-prediction/outputs/figures/eda_quality.png">    </p:cNvPr>
          <p:cNvPicPr>
            <a:picLocks noChangeAspect="1"/>
          </p:cNvPicPr>
          <p:nvPr/>
        </p:nvPicPr>
        <p:blipFill>
          <a:blip r:embed="rId1"/>
          <a:stretch>
            <a:fillRect/>
          </a:stretch>
        </p:blipFill>
        <p:spPr>
          <a:xfrm>
            <a:off x="4754880" y="1005840"/>
            <a:ext cx="4114800" cy="210677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64A56"/>
          </a:solidFill>
          <a:ln w="12700">
            <a:solidFill>
              <a:srgbClr val="064A56"/>
            </a:solidFill>
            <a:prstDash val="solid"/>
          </a:ln>
        </p:spPr>
      </p:sp>
      <p:sp>
        <p:nvSpPr>
          <p:cNvPr id="3" name="Text 1"/>
          <p:cNvSpPr/>
          <p:nvPr/>
        </p:nvSpPr>
        <p:spPr>
          <a:xfrm>
            <a:off x="457200" y="182880"/>
            <a:ext cx="8229600" cy="548640"/>
          </a:xfrm>
          <a:prstGeom prst="rect">
            <a:avLst/>
          </a:prstGeom>
          <a:noFill/>
          <a:ln/>
        </p:spPr>
        <p:txBody>
          <a:bodyPr wrap="square" lIns="0" tIns="0" rIns="0" bIns="0" rtlCol="0" anchor="ctr"/>
          <a:lstStyle/>
          <a:p>
            <a:pPr indent="0" marL="0">
              <a:buNone/>
            </a:pPr>
            <a:r>
              <a:rPr lang="en-US" sz="2400" b="1" dirty="0">
                <a:solidFill>
                  <a:srgbClr val="064A56"/>
                </a:solidFill>
                <a:latin typeface="Calibri" pitchFamily="34" charset="0"/>
                <a:ea typeface="Calibri" pitchFamily="34" charset="-122"/>
                <a:cs typeface="Calibri" pitchFamily="34" charset="-120"/>
              </a:rPr>
              <a:t>Data-quality issues and how I handled them</a:t>
            </a:r>
            <a:endParaRPr lang="en-US" sz="2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868680"/>
          <a:ext cx="3931920" cy="914400"/>
        </p:xfrm>
        <a:graphic>
          <a:graphicData uri="http://schemas.openxmlformats.org/drawingml/2006/table">
            <a:tbl>
              <a:tblPr/>
              <a:tblGrid>
                <a:gridCol w="2103120"/>
                <a:gridCol w="914400"/>
                <a:gridCol w="914400"/>
              </a:tblGrid>
              <a:tr h="283464">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Check</a:t>
                      </a:r>
                      <a:endParaRPr lang="en-US" sz="1050" dirty="0">
                        <a:latin typeface="Calibri" charset="0"/>
                        <a:ea typeface="Calibri" charset="0"/>
                        <a:cs typeface="Calibri" charset="0"/>
                      </a:endParaRPr>
                    </a:p>
                  </a:txBody>
                  <a:tcPr marL="91440" marR="91440" marT="45720" marB="45720">
                    <a:lnL w="6350" cap="flat" cmpd="sng" algn="ctr">
                      <a:solidFill>
                        <a:srgbClr val="C8D3D6"/>
                      </a:solidFill>
                      <a:prstDash val="solid"/>
                      <a:round/>
                      <a:headEnd type="none" w="med" len="med"/>
                      <a:tailEnd type="none" w="med" len="med"/>
                    </a:lnL>
                    <a:lnR w="6350" cap="flat" cmpd="sng" algn="ctr">
                      <a:solidFill>
                        <a:srgbClr val="C8D3D6"/>
                      </a:solidFill>
                      <a:prstDash val="solid"/>
                      <a:round/>
                      <a:headEnd type="none" w="med" len="med"/>
                      <a:tailEnd type="none" w="med" len="med"/>
                    </a:lnR>
                    <a:lnT w="6350" cap="flat" cmpd="sng" algn="ctr">
                      <a:solidFill>
                        <a:srgbClr val="C8D3D6"/>
                      </a:solidFill>
                      <a:prstDash val="solid"/>
                      <a:round/>
                      <a:headEnd type="none" w="med" len="med"/>
                      <a:tailEnd type="none" w="med" len="med"/>
                    </a:lnT>
                    <a:lnB w="6350" cap="flat" cmpd="sng" algn="ctr">
                      <a:solidFill>
                        <a:srgbClr val="C8D3D6"/>
                      </a:solidFill>
                      <a:prstDash val="solid"/>
                      <a:round/>
                      <a:headEnd type="none" w="med" len="med"/>
                      <a:tailEnd type="none" w="med" len="med"/>
                    </a:lnB>
                    <a:solidFill>
                      <a:srgbClr val="064A5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Train</a:t>
                      </a:r>
                      <a:endParaRPr lang="en-US" sz="1050" dirty="0">
                        <a:latin typeface="Calibri" charset="0"/>
                        <a:ea typeface="Calibri" charset="0"/>
                        <a:cs typeface="Calibri" charset="0"/>
                      </a:endParaRPr>
                    </a:p>
                  </a:txBody>
                  <a:tcPr marL="91440" marR="91440" marT="45720" marB="45720">
                    <a:lnL w="6350" cap="flat" cmpd="sng" algn="ctr">
                      <a:solidFill>
                        <a:srgbClr val="C8D3D6"/>
                      </a:solidFill>
                      <a:prstDash val="solid"/>
                      <a:round/>
                      <a:headEnd type="none" w="med" len="med"/>
                      <a:tailEnd type="none" w="med" len="med"/>
                    </a:lnL>
                    <a:lnR w="6350" cap="flat" cmpd="sng" algn="ctr">
                      <a:solidFill>
                        <a:srgbClr val="C8D3D6"/>
                      </a:solidFill>
                      <a:prstDash val="solid"/>
                      <a:round/>
                      <a:headEnd type="none" w="med" len="med"/>
                      <a:tailEnd type="none" w="med" len="med"/>
                    </a:lnR>
                    <a:lnT w="6350" cap="flat" cmpd="sng" algn="ctr">
                      <a:solidFill>
                        <a:srgbClr val="C8D3D6"/>
                      </a:solidFill>
                      <a:prstDash val="solid"/>
                      <a:round/>
                      <a:headEnd type="none" w="med" len="med"/>
                      <a:tailEnd type="none" w="med" len="med"/>
                    </a:lnT>
                    <a:lnB w="6350" cap="flat" cmpd="sng" algn="ctr">
                      <a:solidFill>
                        <a:srgbClr val="C8D3D6"/>
                      </a:solidFill>
                      <a:prstDash val="solid"/>
                      <a:round/>
                      <a:headEnd type="none" w="med" len="med"/>
                      <a:tailEnd type="none" w="med" len="med"/>
                    </a:lnB>
                    <a:solidFill>
                      <a:srgbClr val="064A5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Validation</a:t>
                      </a:r>
                      <a:endParaRPr lang="en-US" sz="1050" dirty="0">
                        <a:latin typeface="Calibri" charset="0"/>
                        <a:ea typeface="Calibri" charset="0"/>
                        <a:cs typeface="Calibri" charset="0"/>
                      </a:endParaRPr>
                    </a:p>
                  </a:txBody>
                  <a:tcPr marL="91440" marR="91440" marT="45720" marB="45720">
                    <a:lnL w="6350" cap="flat" cmpd="sng" algn="ctr">
                      <a:solidFill>
                        <a:srgbClr val="C8D3D6"/>
                      </a:solidFill>
                      <a:prstDash val="solid"/>
                      <a:round/>
                      <a:headEnd type="none" w="med" len="med"/>
                      <a:tailEnd type="none" w="med" len="med"/>
                    </a:lnL>
                    <a:lnR w="6350" cap="flat" cmpd="sng" algn="ctr">
                      <a:solidFill>
                        <a:srgbClr val="C8D3D6"/>
                      </a:solidFill>
                      <a:prstDash val="solid"/>
                      <a:round/>
                      <a:headEnd type="none" w="med" len="med"/>
                      <a:tailEnd type="none" w="med" len="med"/>
                    </a:lnR>
                    <a:lnT w="6350" cap="flat" cmpd="sng" algn="ctr">
                      <a:solidFill>
                        <a:srgbClr val="C8D3D6"/>
                      </a:solidFill>
                      <a:prstDash val="solid"/>
                      <a:round/>
                      <a:headEnd type="none" w="med" len="med"/>
                      <a:tailEnd type="none" w="med" len="med"/>
                    </a:lnT>
                    <a:lnB w="6350" cap="flat" cmpd="sng" algn="ctr">
                      <a:solidFill>
                        <a:srgbClr val="C8D3D6"/>
                      </a:solidFill>
                      <a:prstDash val="solid"/>
                      <a:round/>
                      <a:headEnd type="none" w="med" len="med"/>
                      <a:tailEnd type="none" w="med" len="med"/>
                    </a:lnB>
                    <a:solidFill>
                      <a:srgbClr val="064A56"/>
                    </a:solidFill>
                  </a:tcPr>
                </a:tc>
              </a:tr>
              <a:tr h="283464">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rows</a:t>
                      </a:r>
                      <a:endParaRPr lang="en-US" sz="1050" dirty="0">
                        <a:latin typeface="Calibri" charset="0"/>
                        <a:ea typeface="Calibri" charset="0"/>
                        <a:cs typeface="Calibri" charset="0"/>
                      </a:endParaRPr>
                    </a:p>
                  </a:txBody>
                  <a:tcPr marL="91440" marR="91440" marT="45720" marB="45720">
                    <a:lnL w="6350" cap="flat" cmpd="sng" algn="ctr">
                      <a:solidFill>
                        <a:srgbClr val="C8D3D6"/>
                      </a:solidFill>
                      <a:prstDash val="solid"/>
                      <a:round/>
                      <a:headEnd type="none" w="med" len="med"/>
                      <a:tailEnd type="none" w="med" len="med"/>
                    </a:lnL>
                    <a:lnR w="6350" cap="flat" cmpd="sng" algn="ctr">
                      <a:solidFill>
                        <a:srgbClr val="C8D3D6"/>
                      </a:solidFill>
                      <a:prstDash val="solid"/>
                      <a:round/>
                      <a:headEnd type="none" w="med" len="med"/>
                      <a:tailEnd type="none" w="med" len="med"/>
                    </a:lnR>
                    <a:lnT w="6350" cap="flat" cmpd="sng" algn="ctr">
                      <a:solidFill>
                        <a:srgbClr val="C8D3D6"/>
                      </a:solidFill>
                      <a:prstDash val="solid"/>
                      <a:round/>
                      <a:headEnd type="none" w="med" len="med"/>
                      <a:tailEnd type="none" w="med" len="med"/>
                    </a:lnT>
                    <a:lnB w="6350" cap="flat" cmpd="sng" algn="ctr">
                      <a:solidFill>
                        <a:srgbClr val="C8D3D6"/>
                      </a:solidFill>
                      <a:prstDash val="solid"/>
                      <a:round/>
                      <a:headEnd type="none" w="med" len="med"/>
                      <a:tailEnd type="none" w="med" len="med"/>
                    </a:lnB>
                    <a:solidFill>
                      <a:srgbClr val="F3F7F8"/>
                    </a:solidFill>
                  </a:tcPr>
                </a:tc>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48,000</a:t>
                      </a:r>
                      <a:endParaRPr lang="en-US" sz="1050" dirty="0">
                        <a:latin typeface="Calibri" charset="0"/>
                        <a:ea typeface="Calibri" charset="0"/>
                        <a:cs typeface="Calibri" charset="0"/>
                      </a:endParaRPr>
                    </a:p>
                  </a:txBody>
                  <a:tcPr marL="91440" marR="91440" marT="45720" marB="45720">
                    <a:lnL w="6350" cap="flat" cmpd="sng" algn="ctr">
                      <a:solidFill>
                        <a:srgbClr val="C8D3D6"/>
                      </a:solidFill>
                      <a:prstDash val="solid"/>
                      <a:round/>
                      <a:headEnd type="none" w="med" len="med"/>
                      <a:tailEnd type="none" w="med" len="med"/>
                    </a:lnL>
                    <a:lnR w="6350" cap="flat" cmpd="sng" algn="ctr">
                      <a:solidFill>
                        <a:srgbClr val="C8D3D6"/>
                      </a:solidFill>
                      <a:prstDash val="solid"/>
                      <a:round/>
                      <a:headEnd type="none" w="med" len="med"/>
                      <a:tailEnd type="none" w="med" len="med"/>
                    </a:lnR>
                    <a:lnT w="6350" cap="flat" cmpd="sng" algn="ctr">
                      <a:solidFill>
                        <a:srgbClr val="C8D3D6"/>
                      </a:solidFill>
                      <a:prstDash val="solid"/>
                      <a:round/>
                      <a:headEnd type="none" w="med" len="med"/>
                      <a:tailEnd type="none" w="med" len="med"/>
                    </a:lnT>
                    <a:lnB w="6350" cap="flat" cmpd="sng" algn="ctr">
                      <a:solidFill>
                        <a:srgbClr val="C8D3D6"/>
                      </a:solidFill>
                      <a:prstDash val="solid"/>
                      <a:round/>
                      <a:headEnd type="none" w="med" len="med"/>
                      <a:tailEnd type="none" w="med" len="med"/>
                    </a:lnB>
                    <a:solidFill>
                      <a:srgbClr val="F3F7F8"/>
                    </a:solidFill>
                  </a:tcPr>
                </a:tc>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12,000</a:t>
                      </a:r>
                      <a:endParaRPr lang="en-US" sz="1050" dirty="0">
                        <a:latin typeface="Calibri" charset="0"/>
                        <a:ea typeface="Calibri" charset="0"/>
                        <a:cs typeface="Calibri" charset="0"/>
                      </a:endParaRPr>
                    </a:p>
                  </a:txBody>
                  <a:tcPr marL="91440" marR="91440" marT="45720" marB="45720">
                    <a:lnL w="6350" cap="flat" cmpd="sng" algn="ctr">
                      <a:solidFill>
                        <a:srgbClr val="C8D3D6"/>
                      </a:solidFill>
                      <a:prstDash val="solid"/>
                      <a:round/>
                      <a:headEnd type="none" w="med" len="med"/>
                      <a:tailEnd type="none" w="med" len="med"/>
                    </a:lnL>
                    <a:lnR w="6350" cap="flat" cmpd="sng" algn="ctr">
                      <a:solidFill>
                        <a:srgbClr val="C8D3D6"/>
                      </a:solidFill>
                      <a:prstDash val="solid"/>
                      <a:round/>
                      <a:headEnd type="none" w="med" len="med"/>
                      <a:tailEnd type="none" w="med" len="med"/>
                    </a:lnR>
                    <a:lnT w="6350" cap="flat" cmpd="sng" algn="ctr">
                      <a:solidFill>
                        <a:srgbClr val="C8D3D6"/>
                      </a:solidFill>
                      <a:prstDash val="solid"/>
                      <a:round/>
                      <a:headEnd type="none" w="med" len="med"/>
                      <a:tailEnd type="none" w="med" len="med"/>
                    </a:lnT>
                    <a:lnB w="6350" cap="flat" cmpd="sng" algn="ctr">
                      <a:solidFill>
                        <a:srgbClr val="C8D3D6"/>
                      </a:solidFill>
                      <a:prstDash val="solid"/>
                      <a:round/>
                      <a:headEnd type="none" w="med" len="med"/>
                      <a:tailEnd type="none" w="med" len="med"/>
                    </a:lnB>
                    <a:solidFill>
                      <a:srgbClr val="F3F7F8"/>
                    </a:solidFill>
                  </a:tcPr>
                </a:tc>
              </a:tr>
              <a:tr h="283464">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missing weight</a:t>
                      </a:r>
                      <a:endParaRPr lang="en-US" sz="1050" dirty="0">
                        <a:latin typeface="Calibri" charset="0"/>
                        <a:ea typeface="Calibri" charset="0"/>
                        <a:cs typeface="Calibri" charset="0"/>
                      </a:endParaRPr>
                    </a:p>
                  </a:txBody>
                  <a:tcPr marL="91440" marR="91440" marT="45720" marB="45720">
                    <a:lnL w="6350" cap="flat" cmpd="sng" algn="ctr">
                      <a:solidFill>
                        <a:srgbClr val="C8D3D6"/>
                      </a:solidFill>
                      <a:prstDash val="solid"/>
                      <a:round/>
                      <a:headEnd type="none" w="med" len="med"/>
                      <a:tailEnd type="none" w="med" len="med"/>
                    </a:lnL>
                    <a:lnR w="6350" cap="flat" cmpd="sng" algn="ctr">
                      <a:solidFill>
                        <a:srgbClr val="C8D3D6"/>
                      </a:solidFill>
                      <a:prstDash val="solid"/>
                      <a:round/>
                      <a:headEnd type="none" w="med" len="med"/>
                      <a:tailEnd type="none" w="med" len="med"/>
                    </a:lnR>
                    <a:lnT w="6350" cap="flat" cmpd="sng" algn="ctr">
                      <a:solidFill>
                        <a:srgbClr val="C8D3D6"/>
                      </a:solidFill>
                      <a:prstDash val="solid"/>
                      <a:round/>
                      <a:headEnd type="none" w="med" len="med"/>
                      <a:tailEnd type="none" w="med" len="med"/>
                    </a:lnT>
                    <a:lnB w="6350" cap="flat" cmpd="sng" algn="ctr">
                      <a:solidFill>
                        <a:srgbClr val="C8D3D6"/>
                      </a:solidFill>
                      <a:prstDash val="solid"/>
                      <a:round/>
                      <a:headEnd type="none" w="med" len="med"/>
                      <a:tailEnd type="none" w="med" len="med"/>
                    </a:lnB>
                    <a:solidFill>
                      <a:srgbClr val="FFFFFF"/>
                    </a:solidFill>
                  </a:tcPr>
                </a:tc>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300</a:t>
                      </a:r>
                      <a:endParaRPr lang="en-US" sz="1050" dirty="0">
                        <a:latin typeface="Calibri" charset="0"/>
                        <a:ea typeface="Calibri" charset="0"/>
                        <a:cs typeface="Calibri" charset="0"/>
                      </a:endParaRPr>
                    </a:p>
                  </a:txBody>
                  <a:tcPr marL="91440" marR="91440" marT="45720" marB="45720">
                    <a:lnL w="6350" cap="flat" cmpd="sng" algn="ctr">
                      <a:solidFill>
                        <a:srgbClr val="C8D3D6"/>
                      </a:solidFill>
                      <a:prstDash val="solid"/>
                      <a:round/>
                      <a:headEnd type="none" w="med" len="med"/>
                      <a:tailEnd type="none" w="med" len="med"/>
                    </a:lnL>
                    <a:lnR w="6350" cap="flat" cmpd="sng" algn="ctr">
                      <a:solidFill>
                        <a:srgbClr val="C8D3D6"/>
                      </a:solidFill>
                      <a:prstDash val="solid"/>
                      <a:round/>
                      <a:headEnd type="none" w="med" len="med"/>
                      <a:tailEnd type="none" w="med" len="med"/>
                    </a:lnR>
                    <a:lnT w="6350" cap="flat" cmpd="sng" algn="ctr">
                      <a:solidFill>
                        <a:srgbClr val="C8D3D6"/>
                      </a:solidFill>
                      <a:prstDash val="solid"/>
                      <a:round/>
                      <a:headEnd type="none" w="med" len="med"/>
                      <a:tailEnd type="none" w="med" len="med"/>
                    </a:lnT>
                    <a:lnB w="6350" cap="flat" cmpd="sng" algn="ctr">
                      <a:solidFill>
                        <a:srgbClr val="C8D3D6"/>
                      </a:solidFill>
                      <a:prstDash val="solid"/>
                      <a:round/>
                      <a:headEnd type="none" w="med" len="med"/>
                      <a:tailEnd type="none" w="med" len="med"/>
                    </a:lnB>
                    <a:solidFill>
                      <a:srgbClr val="FFFFFF"/>
                    </a:solidFill>
                  </a:tcPr>
                </a:tc>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165</a:t>
                      </a:r>
                      <a:endParaRPr lang="en-US" sz="1050" dirty="0">
                        <a:latin typeface="Calibri" charset="0"/>
                        <a:ea typeface="Calibri" charset="0"/>
                        <a:cs typeface="Calibri" charset="0"/>
                      </a:endParaRPr>
                    </a:p>
                  </a:txBody>
                  <a:tcPr marL="91440" marR="91440" marT="45720" marB="45720">
                    <a:lnL w="6350" cap="flat" cmpd="sng" algn="ctr">
                      <a:solidFill>
                        <a:srgbClr val="C8D3D6"/>
                      </a:solidFill>
                      <a:prstDash val="solid"/>
                      <a:round/>
                      <a:headEnd type="none" w="med" len="med"/>
                      <a:tailEnd type="none" w="med" len="med"/>
                    </a:lnL>
                    <a:lnR w="6350" cap="flat" cmpd="sng" algn="ctr">
                      <a:solidFill>
                        <a:srgbClr val="C8D3D6"/>
                      </a:solidFill>
                      <a:prstDash val="solid"/>
                      <a:round/>
                      <a:headEnd type="none" w="med" len="med"/>
                      <a:tailEnd type="none" w="med" len="med"/>
                    </a:lnR>
                    <a:lnT w="6350" cap="flat" cmpd="sng" algn="ctr">
                      <a:solidFill>
                        <a:srgbClr val="C8D3D6"/>
                      </a:solidFill>
                      <a:prstDash val="solid"/>
                      <a:round/>
                      <a:headEnd type="none" w="med" len="med"/>
                      <a:tailEnd type="none" w="med" len="med"/>
                    </a:lnT>
                    <a:lnB w="6350" cap="flat" cmpd="sng" algn="ctr">
                      <a:solidFill>
                        <a:srgbClr val="C8D3D6"/>
                      </a:solidFill>
                      <a:prstDash val="solid"/>
                      <a:round/>
                      <a:headEnd type="none" w="med" len="med"/>
                      <a:tailEnd type="none" w="med" len="med"/>
                    </a:lnB>
                    <a:solidFill>
                      <a:srgbClr val="FFFFFF"/>
                    </a:solidFill>
                  </a:tcPr>
                </a:tc>
              </a:tr>
              <a:tr h="283464">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missing market_index</a:t>
                      </a:r>
                      <a:endParaRPr lang="en-US" sz="1050" dirty="0">
                        <a:latin typeface="Calibri" charset="0"/>
                        <a:ea typeface="Calibri" charset="0"/>
                        <a:cs typeface="Calibri" charset="0"/>
                      </a:endParaRPr>
                    </a:p>
                  </a:txBody>
                  <a:tcPr marL="91440" marR="91440" marT="45720" marB="45720">
                    <a:lnL w="6350" cap="flat" cmpd="sng" algn="ctr">
                      <a:solidFill>
                        <a:srgbClr val="C8D3D6"/>
                      </a:solidFill>
                      <a:prstDash val="solid"/>
                      <a:round/>
                      <a:headEnd type="none" w="med" len="med"/>
                      <a:tailEnd type="none" w="med" len="med"/>
                    </a:lnL>
                    <a:lnR w="6350" cap="flat" cmpd="sng" algn="ctr">
                      <a:solidFill>
                        <a:srgbClr val="C8D3D6"/>
                      </a:solidFill>
                      <a:prstDash val="solid"/>
                      <a:round/>
                      <a:headEnd type="none" w="med" len="med"/>
                      <a:tailEnd type="none" w="med" len="med"/>
                    </a:lnR>
                    <a:lnT w="6350" cap="flat" cmpd="sng" algn="ctr">
                      <a:solidFill>
                        <a:srgbClr val="C8D3D6"/>
                      </a:solidFill>
                      <a:prstDash val="solid"/>
                      <a:round/>
                      <a:headEnd type="none" w="med" len="med"/>
                      <a:tailEnd type="none" w="med" len="med"/>
                    </a:lnT>
                    <a:lnB w="6350" cap="flat" cmpd="sng" algn="ctr">
                      <a:solidFill>
                        <a:srgbClr val="C8D3D6"/>
                      </a:solidFill>
                      <a:prstDash val="solid"/>
                      <a:round/>
                      <a:headEnd type="none" w="med" len="med"/>
                      <a:tailEnd type="none" w="med" len="med"/>
                    </a:lnB>
                    <a:solidFill>
                      <a:srgbClr val="F3F7F8"/>
                    </a:solidFill>
                  </a:tcPr>
                </a:tc>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374</a:t>
                      </a:r>
                      <a:endParaRPr lang="en-US" sz="1050" dirty="0">
                        <a:latin typeface="Calibri" charset="0"/>
                        <a:ea typeface="Calibri" charset="0"/>
                        <a:cs typeface="Calibri" charset="0"/>
                      </a:endParaRPr>
                    </a:p>
                  </a:txBody>
                  <a:tcPr marL="91440" marR="91440" marT="45720" marB="45720">
                    <a:lnL w="6350" cap="flat" cmpd="sng" algn="ctr">
                      <a:solidFill>
                        <a:srgbClr val="C8D3D6"/>
                      </a:solidFill>
                      <a:prstDash val="solid"/>
                      <a:round/>
                      <a:headEnd type="none" w="med" len="med"/>
                      <a:tailEnd type="none" w="med" len="med"/>
                    </a:lnL>
                    <a:lnR w="6350" cap="flat" cmpd="sng" algn="ctr">
                      <a:solidFill>
                        <a:srgbClr val="C8D3D6"/>
                      </a:solidFill>
                      <a:prstDash val="solid"/>
                      <a:round/>
                      <a:headEnd type="none" w="med" len="med"/>
                      <a:tailEnd type="none" w="med" len="med"/>
                    </a:lnR>
                    <a:lnT w="6350" cap="flat" cmpd="sng" algn="ctr">
                      <a:solidFill>
                        <a:srgbClr val="C8D3D6"/>
                      </a:solidFill>
                      <a:prstDash val="solid"/>
                      <a:round/>
                      <a:headEnd type="none" w="med" len="med"/>
                      <a:tailEnd type="none" w="med" len="med"/>
                    </a:lnT>
                    <a:lnB w="6350" cap="flat" cmpd="sng" algn="ctr">
                      <a:solidFill>
                        <a:srgbClr val="C8D3D6"/>
                      </a:solidFill>
                      <a:prstDash val="solid"/>
                      <a:round/>
                      <a:headEnd type="none" w="med" len="med"/>
                      <a:tailEnd type="none" w="med" len="med"/>
                    </a:lnB>
                    <a:solidFill>
                      <a:srgbClr val="F3F7F8"/>
                    </a:solidFill>
                  </a:tcPr>
                </a:tc>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249</a:t>
                      </a:r>
                      <a:endParaRPr lang="en-US" sz="1050" dirty="0">
                        <a:latin typeface="Calibri" charset="0"/>
                        <a:ea typeface="Calibri" charset="0"/>
                        <a:cs typeface="Calibri" charset="0"/>
                      </a:endParaRPr>
                    </a:p>
                  </a:txBody>
                  <a:tcPr marL="91440" marR="91440" marT="45720" marB="45720">
                    <a:lnL w="6350" cap="flat" cmpd="sng" algn="ctr">
                      <a:solidFill>
                        <a:srgbClr val="C8D3D6"/>
                      </a:solidFill>
                      <a:prstDash val="solid"/>
                      <a:round/>
                      <a:headEnd type="none" w="med" len="med"/>
                      <a:tailEnd type="none" w="med" len="med"/>
                    </a:lnL>
                    <a:lnR w="6350" cap="flat" cmpd="sng" algn="ctr">
                      <a:solidFill>
                        <a:srgbClr val="C8D3D6"/>
                      </a:solidFill>
                      <a:prstDash val="solid"/>
                      <a:round/>
                      <a:headEnd type="none" w="med" len="med"/>
                      <a:tailEnd type="none" w="med" len="med"/>
                    </a:lnR>
                    <a:lnT w="6350" cap="flat" cmpd="sng" algn="ctr">
                      <a:solidFill>
                        <a:srgbClr val="C8D3D6"/>
                      </a:solidFill>
                      <a:prstDash val="solid"/>
                      <a:round/>
                      <a:headEnd type="none" w="med" len="med"/>
                      <a:tailEnd type="none" w="med" len="med"/>
                    </a:lnT>
                    <a:lnB w="6350" cap="flat" cmpd="sng" algn="ctr">
                      <a:solidFill>
                        <a:srgbClr val="C8D3D6"/>
                      </a:solidFill>
                      <a:prstDash val="solid"/>
                      <a:round/>
                      <a:headEnd type="none" w="med" len="med"/>
                      <a:tailEnd type="none" w="med" len="med"/>
                    </a:lnB>
                    <a:solidFill>
                      <a:srgbClr val="F3F7F8"/>
                    </a:solidFill>
                  </a:tcPr>
                </a:tc>
              </a:tr>
              <a:tr h="283464">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negative weight</a:t>
                      </a:r>
                      <a:endParaRPr lang="en-US" sz="1050" dirty="0">
                        <a:latin typeface="Calibri" charset="0"/>
                        <a:ea typeface="Calibri" charset="0"/>
                        <a:cs typeface="Calibri" charset="0"/>
                      </a:endParaRPr>
                    </a:p>
                  </a:txBody>
                  <a:tcPr marL="91440" marR="91440" marT="45720" marB="45720">
                    <a:lnL w="6350" cap="flat" cmpd="sng" algn="ctr">
                      <a:solidFill>
                        <a:srgbClr val="C8D3D6"/>
                      </a:solidFill>
                      <a:prstDash val="solid"/>
                      <a:round/>
                      <a:headEnd type="none" w="med" len="med"/>
                      <a:tailEnd type="none" w="med" len="med"/>
                    </a:lnL>
                    <a:lnR w="6350" cap="flat" cmpd="sng" algn="ctr">
                      <a:solidFill>
                        <a:srgbClr val="C8D3D6"/>
                      </a:solidFill>
                      <a:prstDash val="solid"/>
                      <a:round/>
                      <a:headEnd type="none" w="med" len="med"/>
                      <a:tailEnd type="none" w="med" len="med"/>
                    </a:lnR>
                    <a:lnT w="6350" cap="flat" cmpd="sng" algn="ctr">
                      <a:solidFill>
                        <a:srgbClr val="C8D3D6"/>
                      </a:solidFill>
                      <a:prstDash val="solid"/>
                      <a:round/>
                      <a:headEnd type="none" w="med" len="med"/>
                      <a:tailEnd type="none" w="med" len="med"/>
                    </a:lnT>
                    <a:lnB w="6350" cap="flat" cmpd="sng" algn="ctr">
                      <a:solidFill>
                        <a:srgbClr val="C8D3D6"/>
                      </a:solidFill>
                      <a:prstDash val="solid"/>
                      <a:round/>
                      <a:headEnd type="none" w="med" len="med"/>
                      <a:tailEnd type="none" w="med" len="med"/>
                    </a:lnB>
                    <a:solidFill>
                      <a:srgbClr val="FFFFFF"/>
                    </a:solidFill>
                  </a:tcPr>
                </a:tc>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292</a:t>
                      </a:r>
                      <a:endParaRPr lang="en-US" sz="1050" dirty="0">
                        <a:latin typeface="Calibri" charset="0"/>
                        <a:ea typeface="Calibri" charset="0"/>
                        <a:cs typeface="Calibri" charset="0"/>
                      </a:endParaRPr>
                    </a:p>
                  </a:txBody>
                  <a:tcPr marL="91440" marR="91440" marT="45720" marB="45720">
                    <a:lnL w="6350" cap="flat" cmpd="sng" algn="ctr">
                      <a:solidFill>
                        <a:srgbClr val="C8D3D6"/>
                      </a:solidFill>
                      <a:prstDash val="solid"/>
                      <a:round/>
                      <a:headEnd type="none" w="med" len="med"/>
                      <a:tailEnd type="none" w="med" len="med"/>
                    </a:lnL>
                    <a:lnR w="6350" cap="flat" cmpd="sng" algn="ctr">
                      <a:solidFill>
                        <a:srgbClr val="C8D3D6"/>
                      </a:solidFill>
                      <a:prstDash val="solid"/>
                      <a:round/>
                      <a:headEnd type="none" w="med" len="med"/>
                      <a:tailEnd type="none" w="med" len="med"/>
                    </a:lnR>
                    <a:lnT w="6350" cap="flat" cmpd="sng" algn="ctr">
                      <a:solidFill>
                        <a:srgbClr val="C8D3D6"/>
                      </a:solidFill>
                      <a:prstDash val="solid"/>
                      <a:round/>
                      <a:headEnd type="none" w="med" len="med"/>
                      <a:tailEnd type="none" w="med" len="med"/>
                    </a:lnT>
                    <a:lnB w="6350" cap="flat" cmpd="sng" algn="ctr">
                      <a:solidFill>
                        <a:srgbClr val="C8D3D6"/>
                      </a:solidFill>
                      <a:prstDash val="solid"/>
                      <a:round/>
                      <a:headEnd type="none" w="med" len="med"/>
                      <a:tailEnd type="none" w="med" len="med"/>
                    </a:lnB>
                    <a:solidFill>
                      <a:srgbClr val="FFFFFF"/>
                    </a:solidFill>
                  </a:tcPr>
                </a:tc>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145</a:t>
                      </a:r>
                      <a:endParaRPr lang="en-US" sz="1050" dirty="0">
                        <a:latin typeface="Calibri" charset="0"/>
                        <a:ea typeface="Calibri" charset="0"/>
                        <a:cs typeface="Calibri" charset="0"/>
                      </a:endParaRPr>
                    </a:p>
                  </a:txBody>
                  <a:tcPr marL="91440" marR="91440" marT="45720" marB="45720">
                    <a:lnL w="6350" cap="flat" cmpd="sng" algn="ctr">
                      <a:solidFill>
                        <a:srgbClr val="C8D3D6"/>
                      </a:solidFill>
                      <a:prstDash val="solid"/>
                      <a:round/>
                      <a:headEnd type="none" w="med" len="med"/>
                      <a:tailEnd type="none" w="med" len="med"/>
                    </a:lnL>
                    <a:lnR w="6350" cap="flat" cmpd="sng" algn="ctr">
                      <a:solidFill>
                        <a:srgbClr val="C8D3D6"/>
                      </a:solidFill>
                      <a:prstDash val="solid"/>
                      <a:round/>
                      <a:headEnd type="none" w="med" len="med"/>
                      <a:tailEnd type="none" w="med" len="med"/>
                    </a:lnR>
                    <a:lnT w="6350" cap="flat" cmpd="sng" algn="ctr">
                      <a:solidFill>
                        <a:srgbClr val="C8D3D6"/>
                      </a:solidFill>
                      <a:prstDash val="solid"/>
                      <a:round/>
                      <a:headEnd type="none" w="med" len="med"/>
                      <a:tailEnd type="none" w="med" len="med"/>
                    </a:lnT>
                    <a:lnB w="6350" cap="flat" cmpd="sng" algn="ctr">
                      <a:solidFill>
                        <a:srgbClr val="C8D3D6"/>
                      </a:solidFill>
                      <a:prstDash val="solid"/>
                      <a:round/>
                      <a:headEnd type="none" w="med" len="med"/>
                      <a:tailEnd type="none" w="med" len="med"/>
                    </a:lnB>
                    <a:solidFill>
                      <a:srgbClr val="FFFFFF"/>
                    </a:solidFill>
                  </a:tcPr>
                </a:tc>
              </a:tr>
              <a:tr h="283464">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weight at +/-47,500</a:t>
                      </a:r>
                      <a:endParaRPr lang="en-US" sz="1050" dirty="0">
                        <a:latin typeface="Calibri" charset="0"/>
                        <a:ea typeface="Calibri" charset="0"/>
                        <a:cs typeface="Calibri" charset="0"/>
                      </a:endParaRPr>
                    </a:p>
                  </a:txBody>
                  <a:tcPr marL="91440" marR="91440" marT="45720" marB="45720">
                    <a:lnL w="6350" cap="flat" cmpd="sng" algn="ctr">
                      <a:solidFill>
                        <a:srgbClr val="C8D3D6"/>
                      </a:solidFill>
                      <a:prstDash val="solid"/>
                      <a:round/>
                      <a:headEnd type="none" w="med" len="med"/>
                      <a:tailEnd type="none" w="med" len="med"/>
                    </a:lnL>
                    <a:lnR w="6350" cap="flat" cmpd="sng" algn="ctr">
                      <a:solidFill>
                        <a:srgbClr val="C8D3D6"/>
                      </a:solidFill>
                      <a:prstDash val="solid"/>
                      <a:round/>
                      <a:headEnd type="none" w="med" len="med"/>
                      <a:tailEnd type="none" w="med" len="med"/>
                    </a:lnR>
                    <a:lnT w="6350" cap="flat" cmpd="sng" algn="ctr">
                      <a:solidFill>
                        <a:srgbClr val="C8D3D6"/>
                      </a:solidFill>
                      <a:prstDash val="solid"/>
                      <a:round/>
                      <a:headEnd type="none" w="med" len="med"/>
                      <a:tailEnd type="none" w="med" len="med"/>
                    </a:lnT>
                    <a:lnB w="6350" cap="flat" cmpd="sng" algn="ctr">
                      <a:solidFill>
                        <a:srgbClr val="C8D3D6"/>
                      </a:solidFill>
                      <a:prstDash val="solid"/>
                      <a:round/>
                      <a:headEnd type="none" w="med" len="med"/>
                      <a:tailEnd type="none" w="med" len="med"/>
                    </a:lnB>
                    <a:solidFill>
                      <a:srgbClr val="F3F7F8"/>
                    </a:solidFill>
                  </a:tcPr>
                </a:tc>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1,204</a:t>
                      </a:r>
                      <a:endParaRPr lang="en-US" sz="1050" dirty="0">
                        <a:latin typeface="Calibri" charset="0"/>
                        <a:ea typeface="Calibri" charset="0"/>
                        <a:cs typeface="Calibri" charset="0"/>
                      </a:endParaRPr>
                    </a:p>
                  </a:txBody>
                  <a:tcPr marL="91440" marR="91440" marT="45720" marB="45720">
                    <a:lnL w="6350" cap="flat" cmpd="sng" algn="ctr">
                      <a:solidFill>
                        <a:srgbClr val="C8D3D6"/>
                      </a:solidFill>
                      <a:prstDash val="solid"/>
                      <a:round/>
                      <a:headEnd type="none" w="med" len="med"/>
                      <a:tailEnd type="none" w="med" len="med"/>
                    </a:lnL>
                    <a:lnR w="6350" cap="flat" cmpd="sng" algn="ctr">
                      <a:solidFill>
                        <a:srgbClr val="C8D3D6"/>
                      </a:solidFill>
                      <a:prstDash val="solid"/>
                      <a:round/>
                      <a:headEnd type="none" w="med" len="med"/>
                      <a:tailEnd type="none" w="med" len="med"/>
                    </a:lnR>
                    <a:lnT w="6350" cap="flat" cmpd="sng" algn="ctr">
                      <a:solidFill>
                        <a:srgbClr val="C8D3D6"/>
                      </a:solidFill>
                      <a:prstDash val="solid"/>
                      <a:round/>
                      <a:headEnd type="none" w="med" len="med"/>
                      <a:tailEnd type="none" w="med" len="med"/>
                    </a:lnT>
                    <a:lnB w="6350" cap="flat" cmpd="sng" algn="ctr">
                      <a:solidFill>
                        <a:srgbClr val="C8D3D6"/>
                      </a:solidFill>
                      <a:prstDash val="solid"/>
                      <a:round/>
                      <a:headEnd type="none" w="med" len="med"/>
                      <a:tailEnd type="none" w="med" len="med"/>
                    </a:lnB>
                    <a:solidFill>
                      <a:srgbClr val="F3F7F8"/>
                    </a:solidFill>
                  </a:tcPr>
                </a:tc>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301</a:t>
                      </a:r>
                      <a:endParaRPr lang="en-US" sz="1050" dirty="0">
                        <a:latin typeface="Calibri" charset="0"/>
                        <a:ea typeface="Calibri" charset="0"/>
                        <a:cs typeface="Calibri" charset="0"/>
                      </a:endParaRPr>
                    </a:p>
                  </a:txBody>
                  <a:tcPr marL="91440" marR="91440" marT="45720" marB="45720">
                    <a:lnL w="6350" cap="flat" cmpd="sng" algn="ctr">
                      <a:solidFill>
                        <a:srgbClr val="C8D3D6"/>
                      </a:solidFill>
                      <a:prstDash val="solid"/>
                      <a:round/>
                      <a:headEnd type="none" w="med" len="med"/>
                      <a:tailEnd type="none" w="med" len="med"/>
                    </a:lnL>
                    <a:lnR w="6350" cap="flat" cmpd="sng" algn="ctr">
                      <a:solidFill>
                        <a:srgbClr val="C8D3D6"/>
                      </a:solidFill>
                      <a:prstDash val="solid"/>
                      <a:round/>
                      <a:headEnd type="none" w="med" len="med"/>
                      <a:tailEnd type="none" w="med" len="med"/>
                    </a:lnR>
                    <a:lnT w="6350" cap="flat" cmpd="sng" algn="ctr">
                      <a:solidFill>
                        <a:srgbClr val="C8D3D6"/>
                      </a:solidFill>
                      <a:prstDash val="solid"/>
                      <a:round/>
                      <a:headEnd type="none" w="med" len="med"/>
                      <a:tailEnd type="none" w="med" len="med"/>
                    </a:lnT>
                    <a:lnB w="6350" cap="flat" cmpd="sng" algn="ctr">
                      <a:solidFill>
                        <a:srgbClr val="C8D3D6"/>
                      </a:solidFill>
                      <a:prstDash val="solid"/>
                      <a:round/>
                      <a:headEnd type="none" w="med" len="med"/>
                      <a:tailEnd type="none" w="med" len="med"/>
                    </a:lnB>
                    <a:solidFill>
                      <a:srgbClr val="F3F7F8"/>
                    </a:solidFill>
                  </a:tcPr>
                </a:tc>
              </a:tr>
              <a:tr h="283464">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distance == 70</a:t>
                      </a:r>
                      <a:endParaRPr lang="en-US" sz="1050" dirty="0">
                        <a:latin typeface="Calibri" charset="0"/>
                        <a:ea typeface="Calibri" charset="0"/>
                        <a:cs typeface="Calibri" charset="0"/>
                      </a:endParaRPr>
                    </a:p>
                  </a:txBody>
                  <a:tcPr marL="91440" marR="91440" marT="45720" marB="45720">
                    <a:lnL w="6350" cap="flat" cmpd="sng" algn="ctr">
                      <a:solidFill>
                        <a:srgbClr val="C8D3D6"/>
                      </a:solidFill>
                      <a:prstDash val="solid"/>
                      <a:round/>
                      <a:headEnd type="none" w="med" len="med"/>
                      <a:tailEnd type="none" w="med" len="med"/>
                    </a:lnL>
                    <a:lnR w="6350" cap="flat" cmpd="sng" algn="ctr">
                      <a:solidFill>
                        <a:srgbClr val="C8D3D6"/>
                      </a:solidFill>
                      <a:prstDash val="solid"/>
                      <a:round/>
                      <a:headEnd type="none" w="med" len="med"/>
                      <a:tailEnd type="none" w="med" len="med"/>
                    </a:lnR>
                    <a:lnT w="6350" cap="flat" cmpd="sng" algn="ctr">
                      <a:solidFill>
                        <a:srgbClr val="C8D3D6"/>
                      </a:solidFill>
                      <a:prstDash val="solid"/>
                      <a:round/>
                      <a:headEnd type="none" w="med" len="med"/>
                      <a:tailEnd type="none" w="med" len="med"/>
                    </a:lnT>
                    <a:lnB w="6350" cap="flat" cmpd="sng" algn="ctr">
                      <a:solidFill>
                        <a:srgbClr val="C8D3D6"/>
                      </a:solidFill>
                      <a:prstDash val="solid"/>
                      <a:round/>
                      <a:headEnd type="none" w="med" len="med"/>
                      <a:tailEnd type="none" w="med" len="med"/>
                    </a:lnB>
                    <a:solidFill>
                      <a:srgbClr val="FFFFFF"/>
                    </a:solidFill>
                  </a:tcPr>
                </a:tc>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48</a:t>
                      </a:r>
                      <a:endParaRPr lang="en-US" sz="1050" dirty="0">
                        <a:latin typeface="Calibri" charset="0"/>
                        <a:ea typeface="Calibri" charset="0"/>
                        <a:cs typeface="Calibri" charset="0"/>
                      </a:endParaRPr>
                    </a:p>
                  </a:txBody>
                  <a:tcPr marL="91440" marR="91440" marT="45720" marB="45720">
                    <a:lnL w="6350" cap="flat" cmpd="sng" algn="ctr">
                      <a:solidFill>
                        <a:srgbClr val="C8D3D6"/>
                      </a:solidFill>
                      <a:prstDash val="solid"/>
                      <a:round/>
                      <a:headEnd type="none" w="med" len="med"/>
                      <a:tailEnd type="none" w="med" len="med"/>
                    </a:lnL>
                    <a:lnR w="6350" cap="flat" cmpd="sng" algn="ctr">
                      <a:solidFill>
                        <a:srgbClr val="C8D3D6"/>
                      </a:solidFill>
                      <a:prstDash val="solid"/>
                      <a:round/>
                      <a:headEnd type="none" w="med" len="med"/>
                      <a:tailEnd type="none" w="med" len="med"/>
                    </a:lnR>
                    <a:lnT w="6350" cap="flat" cmpd="sng" algn="ctr">
                      <a:solidFill>
                        <a:srgbClr val="C8D3D6"/>
                      </a:solidFill>
                      <a:prstDash val="solid"/>
                      <a:round/>
                      <a:headEnd type="none" w="med" len="med"/>
                      <a:tailEnd type="none" w="med" len="med"/>
                    </a:lnT>
                    <a:lnB w="6350" cap="flat" cmpd="sng" algn="ctr">
                      <a:solidFill>
                        <a:srgbClr val="C8D3D6"/>
                      </a:solidFill>
                      <a:prstDash val="solid"/>
                      <a:round/>
                      <a:headEnd type="none" w="med" len="med"/>
                      <a:tailEnd type="none" w="med" len="med"/>
                    </a:lnB>
                    <a:solidFill>
                      <a:srgbClr val="FFFFFF"/>
                    </a:solidFill>
                  </a:tcPr>
                </a:tc>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21</a:t>
                      </a:r>
                      <a:endParaRPr lang="en-US" sz="1050" dirty="0">
                        <a:latin typeface="Calibri" charset="0"/>
                        <a:ea typeface="Calibri" charset="0"/>
                        <a:cs typeface="Calibri" charset="0"/>
                      </a:endParaRPr>
                    </a:p>
                  </a:txBody>
                  <a:tcPr marL="91440" marR="91440" marT="45720" marB="45720">
                    <a:lnL w="6350" cap="flat" cmpd="sng" algn="ctr">
                      <a:solidFill>
                        <a:srgbClr val="C8D3D6"/>
                      </a:solidFill>
                      <a:prstDash val="solid"/>
                      <a:round/>
                      <a:headEnd type="none" w="med" len="med"/>
                      <a:tailEnd type="none" w="med" len="med"/>
                    </a:lnL>
                    <a:lnR w="6350" cap="flat" cmpd="sng" algn="ctr">
                      <a:solidFill>
                        <a:srgbClr val="C8D3D6"/>
                      </a:solidFill>
                      <a:prstDash val="solid"/>
                      <a:round/>
                      <a:headEnd type="none" w="med" len="med"/>
                      <a:tailEnd type="none" w="med" len="med"/>
                    </a:lnR>
                    <a:lnT w="6350" cap="flat" cmpd="sng" algn="ctr">
                      <a:solidFill>
                        <a:srgbClr val="C8D3D6"/>
                      </a:solidFill>
                      <a:prstDash val="solid"/>
                      <a:round/>
                      <a:headEnd type="none" w="med" len="med"/>
                      <a:tailEnd type="none" w="med" len="med"/>
                    </a:lnT>
                    <a:lnB w="6350" cap="flat" cmpd="sng" algn="ctr">
                      <a:solidFill>
                        <a:srgbClr val="C8D3D6"/>
                      </a:solidFill>
                      <a:prstDash val="solid"/>
                      <a:round/>
                      <a:headEnd type="none" w="med" len="med"/>
                      <a:tailEnd type="none" w="med" len="med"/>
                    </a:lnB>
                    <a:solidFill>
                      <a:srgbClr val="FFFFFF"/>
                    </a:solidFill>
                  </a:tcPr>
                </a:tc>
              </a:tr>
              <a:tr h="283464">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duplicate load_id</a:t>
                      </a:r>
                      <a:endParaRPr lang="en-US" sz="1050" dirty="0">
                        <a:latin typeface="Calibri" charset="0"/>
                        <a:ea typeface="Calibri" charset="0"/>
                        <a:cs typeface="Calibri" charset="0"/>
                      </a:endParaRPr>
                    </a:p>
                  </a:txBody>
                  <a:tcPr marL="91440" marR="91440" marT="45720" marB="45720">
                    <a:lnL w="6350" cap="flat" cmpd="sng" algn="ctr">
                      <a:solidFill>
                        <a:srgbClr val="C8D3D6"/>
                      </a:solidFill>
                      <a:prstDash val="solid"/>
                      <a:round/>
                      <a:headEnd type="none" w="med" len="med"/>
                      <a:tailEnd type="none" w="med" len="med"/>
                    </a:lnL>
                    <a:lnR w="6350" cap="flat" cmpd="sng" algn="ctr">
                      <a:solidFill>
                        <a:srgbClr val="C8D3D6"/>
                      </a:solidFill>
                      <a:prstDash val="solid"/>
                      <a:round/>
                      <a:headEnd type="none" w="med" len="med"/>
                      <a:tailEnd type="none" w="med" len="med"/>
                    </a:lnR>
                    <a:lnT w="6350" cap="flat" cmpd="sng" algn="ctr">
                      <a:solidFill>
                        <a:srgbClr val="C8D3D6"/>
                      </a:solidFill>
                      <a:prstDash val="solid"/>
                      <a:round/>
                      <a:headEnd type="none" w="med" len="med"/>
                      <a:tailEnd type="none" w="med" len="med"/>
                    </a:lnT>
                    <a:lnB w="6350" cap="flat" cmpd="sng" algn="ctr">
                      <a:solidFill>
                        <a:srgbClr val="C8D3D6"/>
                      </a:solidFill>
                      <a:prstDash val="solid"/>
                      <a:round/>
                      <a:headEnd type="none" w="med" len="med"/>
                      <a:tailEnd type="none" w="med" len="med"/>
                    </a:lnB>
                    <a:solidFill>
                      <a:srgbClr val="F3F7F8"/>
                    </a:solidFill>
                  </a:tcPr>
                </a:tc>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91440" marR="91440" marT="45720" marB="45720">
                    <a:lnL w="6350" cap="flat" cmpd="sng" algn="ctr">
                      <a:solidFill>
                        <a:srgbClr val="C8D3D6"/>
                      </a:solidFill>
                      <a:prstDash val="solid"/>
                      <a:round/>
                      <a:headEnd type="none" w="med" len="med"/>
                      <a:tailEnd type="none" w="med" len="med"/>
                    </a:lnL>
                    <a:lnR w="6350" cap="flat" cmpd="sng" algn="ctr">
                      <a:solidFill>
                        <a:srgbClr val="C8D3D6"/>
                      </a:solidFill>
                      <a:prstDash val="solid"/>
                      <a:round/>
                      <a:headEnd type="none" w="med" len="med"/>
                      <a:tailEnd type="none" w="med" len="med"/>
                    </a:lnR>
                    <a:lnT w="6350" cap="flat" cmpd="sng" algn="ctr">
                      <a:solidFill>
                        <a:srgbClr val="C8D3D6"/>
                      </a:solidFill>
                      <a:prstDash val="solid"/>
                      <a:round/>
                      <a:headEnd type="none" w="med" len="med"/>
                      <a:tailEnd type="none" w="med" len="med"/>
                    </a:lnT>
                    <a:lnB w="6350" cap="flat" cmpd="sng" algn="ctr">
                      <a:solidFill>
                        <a:srgbClr val="C8D3D6"/>
                      </a:solidFill>
                      <a:prstDash val="solid"/>
                      <a:round/>
                      <a:headEnd type="none" w="med" len="med"/>
                      <a:tailEnd type="none" w="med" len="med"/>
                    </a:lnB>
                    <a:solidFill>
                      <a:srgbClr val="F3F7F8"/>
                    </a:solidFill>
                  </a:tcPr>
                </a:tc>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91440" marR="91440" marT="45720" marB="45720">
                    <a:lnL w="6350" cap="flat" cmpd="sng" algn="ctr">
                      <a:solidFill>
                        <a:srgbClr val="C8D3D6"/>
                      </a:solidFill>
                      <a:prstDash val="solid"/>
                      <a:round/>
                      <a:headEnd type="none" w="med" len="med"/>
                      <a:tailEnd type="none" w="med" len="med"/>
                    </a:lnL>
                    <a:lnR w="6350" cap="flat" cmpd="sng" algn="ctr">
                      <a:solidFill>
                        <a:srgbClr val="C8D3D6"/>
                      </a:solidFill>
                      <a:prstDash val="solid"/>
                      <a:round/>
                      <a:headEnd type="none" w="med" len="med"/>
                      <a:tailEnd type="none" w="med" len="med"/>
                    </a:lnR>
                    <a:lnT w="6350" cap="flat" cmpd="sng" algn="ctr">
                      <a:solidFill>
                        <a:srgbClr val="C8D3D6"/>
                      </a:solidFill>
                      <a:prstDash val="solid"/>
                      <a:round/>
                      <a:headEnd type="none" w="med" len="med"/>
                      <a:tailEnd type="none" w="med" len="med"/>
                    </a:lnT>
                    <a:lnB w="6350" cap="flat" cmpd="sng" algn="ctr">
                      <a:solidFill>
                        <a:srgbClr val="C8D3D6"/>
                      </a:solidFill>
                      <a:prstDash val="solid"/>
                      <a:round/>
                      <a:headEnd type="none" w="med" len="med"/>
                      <a:tailEnd type="none" w="med" len="med"/>
                    </a:lnB>
                    <a:solidFill>
                      <a:srgbClr val="F3F7F8"/>
                    </a:solidFill>
                  </a:tcPr>
                </a:tc>
              </a:tr>
            </a:tbl>
          </a:graphicData>
        </a:graphic>
      </p:graphicFrame>
      <p:graphicFrame>
        <p:nvGraphicFramePr>
          <p:cNvPr id="7" name="Table 1"/>
          <p:cNvGraphicFramePr>
            <a:graphicFrameLocks noGrp="1"/>
          </p:cNvGraphicFramePr>
          <p:nvPr>
            <p:extLst>
              <p:ext uri="{D42A27DB-BD31-4B8C-83A1-F6EECF244321}">
                <p14:modId xmlns:p14="http://schemas.microsoft.com/office/powerpoint/2010/main" val="1579011935"/>
              </p:ext>
            </p:extLst>
          </p:nvPr>
        </p:nvGraphicFramePr>
        <p:xfrm>
          <a:off x="457200" y="3246120"/>
          <a:ext cx="8229600" cy="914400"/>
        </p:xfrm>
        <a:graphic>
          <a:graphicData uri="http://schemas.openxmlformats.org/drawingml/2006/table">
            <a:tbl>
              <a:tblPr/>
              <a:tblGrid>
                <a:gridCol w="1737360"/>
                <a:gridCol w="1097280"/>
                <a:gridCol w="4206240"/>
                <a:gridCol w="1188720"/>
              </a:tblGrid>
              <a:tr h="310896">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Issue</a:t>
                      </a:r>
                      <a:endParaRPr lang="en-US" sz="1050" dirty="0">
                        <a:latin typeface="Calibri" charset="0"/>
                        <a:ea typeface="Calibri" charset="0"/>
                        <a:cs typeface="Calibri" charset="0"/>
                      </a:endParaRPr>
                    </a:p>
                  </a:txBody>
                  <a:tcPr marL="91440" marR="91440" marT="45720" marB="45720">
                    <a:lnL w="6350" cap="flat" cmpd="sng" algn="ctr">
                      <a:solidFill>
                        <a:srgbClr val="C8D3D6"/>
                      </a:solidFill>
                      <a:prstDash val="solid"/>
                      <a:round/>
                      <a:headEnd type="none" w="med" len="med"/>
                      <a:tailEnd type="none" w="med" len="med"/>
                    </a:lnL>
                    <a:lnR w="6350" cap="flat" cmpd="sng" algn="ctr">
                      <a:solidFill>
                        <a:srgbClr val="C8D3D6"/>
                      </a:solidFill>
                      <a:prstDash val="solid"/>
                      <a:round/>
                      <a:headEnd type="none" w="med" len="med"/>
                      <a:tailEnd type="none" w="med" len="med"/>
                    </a:lnR>
                    <a:lnT w="6350" cap="flat" cmpd="sng" algn="ctr">
                      <a:solidFill>
                        <a:srgbClr val="C8D3D6"/>
                      </a:solidFill>
                      <a:prstDash val="solid"/>
                      <a:round/>
                      <a:headEnd type="none" w="med" len="med"/>
                      <a:tailEnd type="none" w="med" len="med"/>
                    </a:lnT>
                    <a:lnB w="6350" cap="flat" cmpd="sng" algn="ctr">
                      <a:solidFill>
                        <a:srgbClr val="C8D3D6"/>
                      </a:solidFill>
                      <a:prstDash val="solid"/>
                      <a:round/>
                      <a:headEnd type="none" w="med" len="med"/>
                      <a:tailEnd type="none" w="med" len="med"/>
                    </a:lnB>
                    <a:solidFill>
                      <a:srgbClr val="064A5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Load</a:t>
                      </a:r>
                      <a:endParaRPr lang="en-US" sz="1050" dirty="0">
                        <a:latin typeface="Calibri" charset="0"/>
                        <a:ea typeface="Calibri" charset="0"/>
                        <a:cs typeface="Calibri" charset="0"/>
                      </a:endParaRPr>
                    </a:p>
                  </a:txBody>
                  <a:tcPr marL="91440" marR="91440" marT="45720" marB="45720">
                    <a:lnL w="6350" cap="flat" cmpd="sng" algn="ctr">
                      <a:solidFill>
                        <a:srgbClr val="C8D3D6"/>
                      </a:solidFill>
                      <a:prstDash val="solid"/>
                      <a:round/>
                      <a:headEnd type="none" w="med" len="med"/>
                      <a:tailEnd type="none" w="med" len="med"/>
                    </a:lnL>
                    <a:lnR w="6350" cap="flat" cmpd="sng" algn="ctr">
                      <a:solidFill>
                        <a:srgbClr val="C8D3D6"/>
                      </a:solidFill>
                      <a:prstDash val="solid"/>
                      <a:round/>
                      <a:headEnd type="none" w="med" len="med"/>
                      <a:tailEnd type="none" w="med" len="med"/>
                    </a:lnR>
                    <a:lnT w="6350" cap="flat" cmpd="sng" algn="ctr">
                      <a:solidFill>
                        <a:srgbClr val="C8D3D6"/>
                      </a:solidFill>
                      <a:prstDash val="solid"/>
                      <a:round/>
                      <a:headEnd type="none" w="med" len="med"/>
                      <a:tailEnd type="none" w="med" len="med"/>
                    </a:lnT>
                    <a:lnB w="6350" cap="flat" cmpd="sng" algn="ctr">
                      <a:solidFill>
                        <a:srgbClr val="C8D3D6"/>
                      </a:solidFill>
                      <a:prstDash val="solid"/>
                      <a:round/>
                      <a:headEnd type="none" w="med" len="med"/>
                      <a:tailEnd type="none" w="med" len="med"/>
                    </a:lnB>
                    <a:solidFill>
                      <a:srgbClr val="064A5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Evidence</a:t>
                      </a:r>
                      <a:endParaRPr lang="en-US" sz="1050" dirty="0">
                        <a:latin typeface="Calibri" charset="0"/>
                        <a:ea typeface="Calibri" charset="0"/>
                        <a:cs typeface="Calibri" charset="0"/>
                      </a:endParaRPr>
                    </a:p>
                  </a:txBody>
                  <a:tcPr marL="91440" marR="91440" marT="45720" marB="45720">
                    <a:lnL w="6350" cap="flat" cmpd="sng" algn="ctr">
                      <a:solidFill>
                        <a:srgbClr val="C8D3D6"/>
                      </a:solidFill>
                      <a:prstDash val="solid"/>
                      <a:round/>
                      <a:headEnd type="none" w="med" len="med"/>
                      <a:tailEnd type="none" w="med" len="med"/>
                    </a:lnL>
                    <a:lnR w="6350" cap="flat" cmpd="sng" algn="ctr">
                      <a:solidFill>
                        <a:srgbClr val="C8D3D6"/>
                      </a:solidFill>
                      <a:prstDash val="solid"/>
                      <a:round/>
                      <a:headEnd type="none" w="med" len="med"/>
                      <a:tailEnd type="none" w="med" len="med"/>
                    </a:lnR>
                    <a:lnT w="6350" cap="flat" cmpd="sng" algn="ctr">
                      <a:solidFill>
                        <a:srgbClr val="C8D3D6"/>
                      </a:solidFill>
                      <a:prstDash val="solid"/>
                      <a:round/>
                      <a:headEnd type="none" w="med" len="med"/>
                      <a:tailEnd type="none" w="med" len="med"/>
                    </a:lnT>
                    <a:lnB w="6350" cap="flat" cmpd="sng" algn="ctr">
                      <a:solidFill>
                        <a:srgbClr val="C8D3D6"/>
                      </a:solidFill>
                      <a:prstDash val="solid"/>
                      <a:round/>
                      <a:headEnd type="none" w="med" len="med"/>
                      <a:tailEnd type="none" w="med" len="med"/>
                    </a:lnB>
                    <a:solidFill>
                      <a:srgbClr val="064A5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Fix</a:t>
                      </a:r>
                      <a:endParaRPr lang="en-US" sz="1050" dirty="0">
                        <a:latin typeface="Calibri" charset="0"/>
                        <a:ea typeface="Calibri" charset="0"/>
                        <a:cs typeface="Calibri" charset="0"/>
                      </a:endParaRPr>
                    </a:p>
                  </a:txBody>
                  <a:tcPr marL="91440" marR="91440" marT="45720" marB="45720">
                    <a:lnL w="6350" cap="flat" cmpd="sng" algn="ctr">
                      <a:solidFill>
                        <a:srgbClr val="C8D3D6"/>
                      </a:solidFill>
                      <a:prstDash val="solid"/>
                      <a:round/>
                      <a:headEnd type="none" w="med" len="med"/>
                      <a:tailEnd type="none" w="med" len="med"/>
                    </a:lnL>
                    <a:lnR w="6350" cap="flat" cmpd="sng" algn="ctr">
                      <a:solidFill>
                        <a:srgbClr val="C8D3D6"/>
                      </a:solidFill>
                      <a:prstDash val="solid"/>
                      <a:round/>
                      <a:headEnd type="none" w="med" len="med"/>
                      <a:tailEnd type="none" w="med" len="med"/>
                    </a:lnR>
                    <a:lnT w="6350" cap="flat" cmpd="sng" algn="ctr">
                      <a:solidFill>
                        <a:srgbClr val="C8D3D6"/>
                      </a:solidFill>
                      <a:prstDash val="solid"/>
                      <a:round/>
                      <a:headEnd type="none" w="med" len="med"/>
                      <a:tailEnd type="none" w="med" len="med"/>
                    </a:lnT>
                    <a:lnB w="6350" cap="flat" cmpd="sng" algn="ctr">
                      <a:solidFill>
                        <a:srgbClr val="C8D3D6"/>
                      </a:solidFill>
                      <a:prstDash val="solid"/>
                      <a:round/>
                      <a:headEnd type="none" w="med" len="med"/>
                      <a:tailEnd type="none" w="med" len="med"/>
                    </a:lnB>
                    <a:solidFill>
                      <a:srgbClr val="064A56"/>
                    </a:solidFill>
                  </a:tcPr>
                </a:tc>
              </a:tr>
              <a:tr h="310896">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Negative weight</a:t>
                      </a:r>
                      <a:endParaRPr lang="en-US" sz="1050" dirty="0">
                        <a:latin typeface="Calibri" charset="0"/>
                        <a:ea typeface="Calibri" charset="0"/>
                        <a:cs typeface="Calibri" charset="0"/>
                      </a:endParaRPr>
                    </a:p>
                  </a:txBody>
                  <a:tcPr marL="91440" marR="91440" marT="45720" marB="45720">
                    <a:lnL w="6350" cap="flat" cmpd="sng" algn="ctr">
                      <a:solidFill>
                        <a:srgbClr val="C8D3D6"/>
                      </a:solidFill>
                      <a:prstDash val="solid"/>
                      <a:round/>
                      <a:headEnd type="none" w="med" len="med"/>
                      <a:tailEnd type="none" w="med" len="med"/>
                    </a:lnL>
                    <a:lnR w="6350" cap="flat" cmpd="sng" algn="ctr">
                      <a:solidFill>
                        <a:srgbClr val="C8D3D6"/>
                      </a:solidFill>
                      <a:prstDash val="solid"/>
                      <a:round/>
                      <a:headEnd type="none" w="med" len="med"/>
                      <a:tailEnd type="none" w="med" len="med"/>
                    </a:lnR>
                    <a:lnT w="6350" cap="flat" cmpd="sng" algn="ctr">
                      <a:solidFill>
                        <a:srgbClr val="C8D3D6"/>
                      </a:solidFill>
                      <a:prstDash val="solid"/>
                      <a:round/>
                      <a:headEnd type="none" w="med" len="med"/>
                      <a:tailEnd type="none" w="med" len="med"/>
                    </a:lnT>
                    <a:lnB w="6350" cap="flat" cmpd="sng" algn="ctr">
                      <a:solidFill>
                        <a:srgbClr val="C8D3D6"/>
                      </a:solidFill>
                      <a:prstDash val="solid"/>
                      <a:round/>
                      <a:headEnd type="none" w="med" len="med"/>
                      <a:tailEnd type="none" w="med" len="med"/>
                    </a:lnB>
                    <a:solidFill>
                      <a:srgbClr val="F3F7F8"/>
                    </a:solidFill>
                  </a:tcPr>
                </a:tc>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TR-000069</a:t>
                      </a:r>
                      <a:endParaRPr lang="en-US" sz="1050" dirty="0">
                        <a:latin typeface="Calibri" charset="0"/>
                        <a:ea typeface="Calibri" charset="0"/>
                        <a:cs typeface="Calibri" charset="0"/>
                      </a:endParaRPr>
                    </a:p>
                  </a:txBody>
                  <a:tcPr marL="91440" marR="91440" marT="45720" marB="45720">
                    <a:lnL w="6350" cap="flat" cmpd="sng" algn="ctr">
                      <a:solidFill>
                        <a:srgbClr val="C8D3D6"/>
                      </a:solidFill>
                      <a:prstDash val="solid"/>
                      <a:round/>
                      <a:headEnd type="none" w="med" len="med"/>
                      <a:tailEnd type="none" w="med" len="med"/>
                    </a:lnL>
                    <a:lnR w="6350" cap="flat" cmpd="sng" algn="ctr">
                      <a:solidFill>
                        <a:srgbClr val="C8D3D6"/>
                      </a:solidFill>
                      <a:prstDash val="solid"/>
                      <a:round/>
                      <a:headEnd type="none" w="med" len="med"/>
                      <a:tailEnd type="none" w="med" len="med"/>
                    </a:lnR>
                    <a:lnT w="6350" cap="flat" cmpd="sng" algn="ctr">
                      <a:solidFill>
                        <a:srgbClr val="C8D3D6"/>
                      </a:solidFill>
                      <a:prstDash val="solid"/>
                      <a:round/>
                      <a:headEnd type="none" w="med" len="med"/>
                      <a:tailEnd type="none" w="med" len="med"/>
                    </a:lnT>
                    <a:lnB w="6350" cap="flat" cmpd="sng" algn="ctr">
                      <a:solidFill>
                        <a:srgbClr val="C8D3D6"/>
                      </a:solidFill>
                      <a:prstDash val="solid"/>
                      <a:round/>
                      <a:headEnd type="none" w="med" len="med"/>
                      <a:tailEnd type="none" w="med" len="med"/>
                    </a:lnB>
                    <a:solidFill>
                      <a:srgbClr val="F3F7F8"/>
                    </a:solidFill>
                  </a:tcPr>
                </a:tc>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weight = -36,559 lb</a:t>
                      </a:r>
                      <a:endParaRPr lang="en-US" sz="1050" dirty="0">
                        <a:latin typeface="Calibri" charset="0"/>
                        <a:ea typeface="Calibri" charset="0"/>
                        <a:cs typeface="Calibri" charset="0"/>
                      </a:endParaRPr>
                    </a:p>
                  </a:txBody>
                  <a:tcPr marL="91440" marR="91440" marT="45720" marB="45720">
                    <a:lnL w="6350" cap="flat" cmpd="sng" algn="ctr">
                      <a:solidFill>
                        <a:srgbClr val="C8D3D6"/>
                      </a:solidFill>
                      <a:prstDash val="solid"/>
                      <a:round/>
                      <a:headEnd type="none" w="med" len="med"/>
                      <a:tailEnd type="none" w="med" len="med"/>
                    </a:lnL>
                    <a:lnR w="6350" cap="flat" cmpd="sng" algn="ctr">
                      <a:solidFill>
                        <a:srgbClr val="C8D3D6"/>
                      </a:solidFill>
                      <a:prstDash val="solid"/>
                      <a:round/>
                      <a:headEnd type="none" w="med" len="med"/>
                      <a:tailEnd type="none" w="med" len="med"/>
                    </a:lnR>
                    <a:lnT w="6350" cap="flat" cmpd="sng" algn="ctr">
                      <a:solidFill>
                        <a:srgbClr val="C8D3D6"/>
                      </a:solidFill>
                      <a:prstDash val="solid"/>
                      <a:round/>
                      <a:headEnd type="none" w="med" len="med"/>
                      <a:tailEnd type="none" w="med" len="med"/>
                    </a:lnT>
                    <a:lnB w="6350" cap="flat" cmpd="sng" algn="ctr">
                      <a:solidFill>
                        <a:srgbClr val="C8D3D6"/>
                      </a:solidFill>
                      <a:prstDash val="solid"/>
                      <a:round/>
                      <a:headEnd type="none" w="med" len="med"/>
                      <a:tailEnd type="none" w="med" len="med"/>
                    </a:lnB>
                    <a:solidFill>
                      <a:srgbClr val="F3F7F8"/>
                    </a:solidFill>
                  </a:tcPr>
                </a:tc>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abs() → 36,559</a:t>
                      </a:r>
                      <a:endParaRPr lang="en-US" sz="1050" dirty="0">
                        <a:latin typeface="Calibri" charset="0"/>
                        <a:ea typeface="Calibri" charset="0"/>
                        <a:cs typeface="Calibri" charset="0"/>
                      </a:endParaRPr>
                    </a:p>
                  </a:txBody>
                  <a:tcPr marL="91440" marR="91440" marT="45720" marB="45720">
                    <a:lnL w="6350" cap="flat" cmpd="sng" algn="ctr">
                      <a:solidFill>
                        <a:srgbClr val="C8D3D6"/>
                      </a:solidFill>
                      <a:prstDash val="solid"/>
                      <a:round/>
                      <a:headEnd type="none" w="med" len="med"/>
                      <a:tailEnd type="none" w="med" len="med"/>
                    </a:lnL>
                    <a:lnR w="6350" cap="flat" cmpd="sng" algn="ctr">
                      <a:solidFill>
                        <a:srgbClr val="C8D3D6"/>
                      </a:solidFill>
                      <a:prstDash val="solid"/>
                      <a:round/>
                      <a:headEnd type="none" w="med" len="med"/>
                      <a:tailEnd type="none" w="med" len="med"/>
                    </a:lnR>
                    <a:lnT w="6350" cap="flat" cmpd="sng" algn="ctr">
                      <a:solidFill>
                        <a:srgbClr val="C8D3D6"/>
                      </a:solidFill>
                      <a:prstDash val="solid"/>
                      <a:round/>
                      <a:headEnd type="none" w="med" len="med"/>
                      <a:tailEnd type="none" w="med" len="med"/>
                    </a:lnT>
                    <a:lnB w="6350" cap="flat" cmpd="sng" algn="ctr">
                      <a:solidFill>
                        <a:srgbClr val="C8D3D6"/>
                      </a:solidFill>
                      <a:prstDash val="solid"/>
                      <a:round/>
                      <a:headEnd type="none" w="med" len="med"/>
                      <a:tailEnd type="none" w="med" len="med"/>
                    </a:lnB>
                    <a:solidFill>
                      <a:srgbClr val="F3F7F8"/>
                    </a:solidFill>
                  </a:tcPr>
                </a:tc>
              </a:tr>
              <a:tr h="310896">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Corrupted label (high)</a:t>
                      </a:r>
                      <a:endParaRPr lang="en-US" sz="1050" dirty="0">
                        <a:latin typeface="Calibri" charset="0"/>
                        <a:ea typeface="Calibri" charset="0"/>
                        <a:cs typeface="Calibri" charset="0"/>
                      </a:endParaRPr>
                    </a:p>
                  </a:txBody>
                  <a:tcPr marL="91440" marR="91440" marT="45720" marB="45720">
                    <a:lnL w="6350" cap="flat" cmpd="sng" algn="ctr">
                      <a:solidFill>
                        <a:srgbClr val="C8D3D6"/>
                      </a:solidFill>
                      <a:prstDash val="solid"/>
                      <a:round/>
                      <a:headEnd type="none" w="med" len="med"/>
                      <a:tailEnd type="none" w="med" len="med"/>
                    </a:lnL>
                    <a:lnR w="6350" cap="flat" cmpd="sng" algn="ctr">
                      <a:solidFill>
                        <a:srgbClr val="C8D3D6"/>
                      </a:solidFill>
                      <a:prstDash val="solid"/>
                      <a:round/>
                      <a:headEnd type="none" w="med" len="med"/>
                      <a:tailEnd type="none" w="med" len="med"/>
                    </a:lnR>
                    <a:lnT w="6350" cap="flat" cmpd="sng" algn="ctr">
                      <a:solidFill>
                        <a:srgbClr val="C8D3D6"/>
                      </a:solidFill>
                      <a:prstDash val="solid"/>
                      <a:round/>
                      <a:headEnd type="none" w="med" len="med"/>
                      <a:tailEnd type="none" w="med" len="med"/>
                    </a:lnT>
                    <a:lnB w="6350" cap="flat" cmpd="sng" algn="ctr">
                      <a:solidFill>
                        <a:srgbClr val="C8D3D6"/>
                      </a:solidFill>
                      <a:prstDash val="solid"/>
                      <a:round/>
                      <a:headEnd type="none" w="med" len="med"/>
                      <a:tailEnd type="none" w="med" len="med"/>
                    </a:lnB>
                    <a:solidFill>
                      <a:srgbClr val="FFFFFF"/>
                    </a:solidFill>
                  </a:tcPr>
                </a:tc>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TR-000389</a:t>
                      </a:r>
                      <a:endParaRPr lang="en-US" sz="1050" dirty="0">
                        <a:latin typeface="Calibri" charset="0"/>
                        <a:ea typeface="Calibri" charset="0"/>
                        <a:cs typeface="Calibri" charset="0"/>
                      </a:endParaRPr>
                    </a:p>
                  </a:txBody>
                  <a:tcPr marL="91440" marR="91440" marT="45720" marB="45720">
                    <a:lnL w="6350" cap="flat" cmpd="sng" algn="ctr">
                      <a:solidFill>
                        <a:srgbClr val="C8D3D6"/>
                      </a:solidFill>
                      <a:prstDash val="solid"/>
                      <a:round/>
                      <a:headEnd type="none" w="med" len="med"/>
                      <a:tailEnd type="none" w="med" len="med"/>
                    </a:lnL>
                    <a:lnR w="6350" cap="flat" cmpd="sng" algn="ctr">
                      <a:solidFill>
                        <a:srgbClr val="C8D3D6"/>
                      </a:solidFill>
                      <a:prstDash val="solid"/>
                      <a:round/>
                      <a:headEnd type="none" w="med" len="med"/>
                      <a:tailEnd type="none" w="med" len="med"/>
                    </a:lnR>
                    <a:lnT w="6350" cap="flat" cmpd="sng" algn="ctr">
                      <a:solidFill>
                        <a:srgbClr val="C8D3D6"/>
                      </a:solidFill>
                      <a:prstDash val="solid"/>
                      <a:round/>
                      <a:headEnd type="none" w="med" len="med"/>
                      <a:tailEnd type="none" w="med" len="med"/>
                    </a:lnT>
                    <a:lnB w="6350" cap="flat" cmpd="sng" algn="ctr">
                      <a:solidFill>
                        <a:srgbClr val="C8D3D6"/>
                      </a:solidFill>
                      <a:prstDash val="solid"/>
                      <a:round/>
                      <a:headEnd type="none" w="med" len="med"/>
                      <a:tailEnd type="none" w="med" len="med"/>
                    </a:lnB>
                    <a:solidFill>
                      <a:srgbClr val="FFFFFF"/>
                    </a:solidFill>
                  </a:tcPr>
                </a:tc>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rate $5,485 vs lane median $1,753 (3.1x)</a:t>
                      </a:r>
                      <a:endParaRPr lang="en-US" sz="1050" dirty="0">
                        <a:latin typeface="Calibri" charset="0"/>
                        <a:ea typeface="Calibri" charset="0"/>
                        <a:cs typeface="Calibri" charset="0"/>
                      </a:endParaRPr>
                    </a:p>
                  </a:txBody>
                  <a:tcPr marL="91440" marR="91440" marT="45720" marB="45720">
                    <a:lnL w="6350" cap="flat" cmpd="sng" algn="ctr">
                      <a:solidFill>
                        <a:srgbClr val="C8D3D6"/>
                      </a:solidFill>
                      <a:prstDash val="solid"/>
                      <a:round/>
                      <a:headEnd type="none" w="med" len="med"/>
                      <a:tailEnd type="none" w="med" len="med"/>
                    </a:lnL>
                    <a:lnR w="6350" cap="flat" cmpd="sng" algn="ctr">
                      <a:solidFill>
                        <a:srgbClr val="C8D3D6"/>
                      </a:solidFill>
                      <a:prstDash val="solid"/>
                      <a:round/>
                      <a:headEnd type="none" w="med" len="med"/>
                      <a:tailEnd type="none" w="med" len="med"/>
                    </a:lnR>
                    <a:lnT w="6350" cap="flat" cmpd="sng" algn="ctr">
                      <a:solidFill>
                        <a:srgbClr val="C8D3D6"/>
                      </a:solidFill>
                      <a:prstDash val="solid"/>
                      <a:round/>
                      <a:headEnd type="none" w="med" len="med"/>
                      <a:tailEnd type="none" w="med" len="med"/>
                    </a:lnT>
                    <a:lnB w="6350" cap="flat" cmpd="sng" algn="ctr">
                      <a:solidFill>
                        <a:srgbClr val="C8D3D6"/>
                      </a:solidFill>
                      <a:prstDash val="solid"/>
                      <a:round/>
                      <a:headEnd type="none" w="med" len="med"/>
                      <a:tailEnd type="none" w="med" len="med"/>
                    </a:lnB>
                    <a:solidFill>
                      <a:srgbClr val="FFFFFF"/>
                    </a:solidFill>
                  </a:tcPr>
                </a:tc>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L1 loss</a:t>
                      </a:r>
                      <a:endParaRPr lang="en-US" sz="1050" dirty="0">
                        <a:latin typeface="Calibri" charset="0"/>
                        <a:ea typeface="Calibri" charset="0"/>
                        <a:cs typeface="Calibri" charset="0"/>
                      </a:endParaRPr>
                    </a:p>
                  </a:txBody>
                  <a:tcPr marL="91440" marR="91440" marT="45720" marB="45720">
                    <a:lnL w="6350" cap="flat" cmpd="sng" algn="ctr">
                      <a:solidFill>
                        <a:srgbClr val="C8D3D6"/>
                      </a:solidFill>
                      <a:prstDash val="solid"/>
                      <a:round/>
                      <a:headEnd type="none" w="med" len="med"/>
                      <a:tailEnd type="none" w="med" len="med"/>
                    </a:lnL>
                    <a:lnR w="6350" cap="flat" cmpd="sng" algn="ctr">
                      <a:solidFill>
                        <a:srgbClr val="C8D3D6"/>
                      </a:solidFill>
                      <a:prstDash val="solid"/>
                      <a:round/>
                      <a:headEnd type="none" w="med" len="med"/>
                      <a:tailEnd type="none" w="med" len="med"/>
                    </a:lnR>
                    <a:lnT w="6350" cap="flat" cmpd="sng" algn="ctr">
                      <a:solidFill>
                        <a:srgbClr val="C8D3D6"/>
                      </a:solidFill>
                      <a:prstDash val="solid"/>
                      <a:round/>
                      <a:headEnd type="none" w="med" len="med"/>
                      <a:tailEnd type="none" w="med" len="med"/>
                    </a:lnT>
                    <a:lnB w="6350" cap="flat" cmpd="sng" algn="ctr">
                      <a:solidFill>
                        <a:srgbClr val="C8D3D6"/>
                      </a:solidFill>
                      <a:prstDash val="solid"/>
                      <a:round/>
                      <a:headEnd type="none" w="med" len="med"/>
                      <a:tailEnd type="none" w="med" len="med"/>
                    </a:lnB>
                    <a:solidFill>
                      <a:srgbClr val="FFFFFF"/>
                    </a:solidFill>
                  </a:tcPr>
                </a:tc>
              </a:tr>
              <a:tr h="310896">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Corrupted label (low)</a:t>
                      </a:r>
                      <a:endParaRPr lang="en-US" sz="1050" dirty="0">
                        <a:latin typeface="Calibri" charset="0"/>
                        <a:ea typeface="Calibri" charset="0"/>
                        <a:cs typeface="Calibri" charset="0"/>
                      </a:endParaRPr>
                    </a:p>
                  </a:txBody>
                  <a:tcPr marL="91440" marR="91440" marT="45720" marB="45720">
                    <a:lnL w="6350" cap="flat" cmpd="sng" algn="ctr">
                      <a:solidFill>
                        <a:srgbClr val="C8D3D6"/>
                      </a:solidFill>
                      <a:prstDash val="solid"/>
                      <a:round/>
                      <a:headEnd type="none" w="med" len="med"/>
                      <a:tailEnd type="none" w="med" len="med"/>
                    </a:lnL>
                    <a:lnR w="6350" cap="flat" cmpd="sng" algn="ctr">
                      <a:solidFill>
                        <a:srgbClr val="C8D3D6"/>
                      </a:solidFill>
                      <a:prstDash val="solid"/>
                      <a:round/>
                      <a:headEnd type="none" w="med" len="med"/>
                      <a:tailEnd type="none" w="med" len="med"/>
                    </a:lnR>
                    <a:lnT w="6350" cap="flat" cmpd="sng" algn="ctr">
                      <a:solidFill>
                        <a:srgbClr val="C8D3D6"/>
                      </a:solidFill>
                      <a:prstDash val="solid"/>
                      <a:round/>
                      <a:headEnd type="none" w="med" len="med"/>
                      <a:tailEnd type="none" w="med" len="med"/>
                    </a:lnT>
                    <a:lnB w="6350" cap="flat" cmpd="sng" algn="ctr">
                      <a:solidFill>
                        <a:srgbClr val="C8D3D6"/>
                      </a:solidFill>
                      <a:prstDash val="solid"/>
                      <a:round/>
                      <a:headEnd type="none" w="med" len="med"/>
                      <a:tailEnd type="none" w="med" len="med"/>
                    </a:lnB>
                    <a:solidFill>
                      <a:srgbClr val="F3F7F8"/>
                    </a:solidFill>
                  </a:tcPr>
                </a:tc>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TR-000509</a:t>
                      </a:r>
                      <a:endParaRPr lang="en-US" sz="1050" dirty="0">
                        <a:latin typeface="Calibri" charset="0"/>
                        <a:ea typeface="Calibri" charset="0"/>
                        <a:cs typeface="Calibri" charset="0"/>
                      </a:endParaRPr>
                    </a:p>
                  </a:txBody>
                  <a:tcPr marL="91440" marR="91440" marT="45720" marB="45720">
                    <a:lnL w="6350" cap="flat" cmpd="sng" algn="ctr">
                      <a:solidFill>
                        <a:srgbClr val="C8D3D6"/>
                      </a:solidFill>
                      <a:prstDash val="solid"/>
                      <a:round/>
                      <a:headEnd type="none" w="med" len="med"/>
                      <a:tailEnd type="none" w="med" len="med"/>
                    </a:lnL>
                    <a:lnR w="6350" cap="flat" cmpd="sng" algn="ctr">
                      <a:solidFill>
                        <a:srgbClr val="C8D3D6"/>
                      </a:solidFill>
                      <a:prstDash val="solid"/>
                      <a:round/>
                      <a:headEnd type="none" w="med" len="med"/>
                      <a:tailEnd type="none" w="med" len="med"/>
                    </a:lnR>
                    <a:lnT w="6350" cap="flat" cmpd="sng" algn="ctr">
                      <a:solidFill>
                        <a:srgbClr val="C8D3D6"/>
                      </a:solidFill>
                      <a:prstDash val="solid"/>
                      <a:round/>
                      <a:headEnd type="none" w="med" len="med"/>
                      <a:tailEnd type="none" w="med" len="med"/>
                    </a:lnT>
                    <a:lnB w="6350" cap="flat" cmpd="sng" algn="ctr">
                      <a:solidFill>
                        <a:srgbClr val="C8D3D6"/>
                      </a:solidFill>
                      <a:prstDash val="solid"/>
                      <a:round/>
                      <a:headEnd type="none" w="med" len="med"/>
                      <a:tailEnd type="none" w="med" len="med"/>
                    </a:lnB>
                    <a:solidFill>
                      <a:srgbClr val="F3F7F8"/>
                    </a:solidFill>
                  </a:tcPr>
                </a:tc>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rate $699 vs lane median $3,576 (0.20x)</a:t>
                      </a:r>
                      <a:endParaRPr lang="en-US" sz="1050" dirty="0">
                        <a:latin typeface="Calibri" charset="0"/>
                        <a:ea typeface="Calibri" charset="0"/>
                        <a:cs typeface="Calibri" charset="0"/>
                      </a:endParaRPr>
                    </a:p>
                  </a:txBody>
                  <a:tcPr marL="91440" marR="91440" marT="45720" marB="45720">
                    <a:lnL w="6350" cap="flat" cmpd="sng" algn="ctr">
                      <a:solidFill>
                        <a:srgbClr val="C8D3D6"/>
                      </a:solidFill>
                      <a:prstDash val="solid"/>
                      <a:round/>
                      <a:headEnd type="none" w="med" len="med"/>
                      <a:tailEnd type="none" w="med" len="med"/>
                    </a:lnL>
                    <a:lnR w="6350" cap="flat" cmpd="sng" algn="ctr">
                      <a:solidFill>
                        <a:srgbClr val="C8D3D6"/>
                      </a:solidFill>
                      <a:prstDash val="solid"/>
                      <a:round/>
                      <a:headEnd type="none" w="med" len="med"/>
                      <a:tailEnd type="none" w="med" len="med"/>
                    </a:lnR>
                    <a:lnT w="6350" cap="flat" cmpd="sng" algn="ctr">
                      <a:solidFill>
                        <a:srgbClr val="C8D3D6"/>
                      </a:solidFill>
                      <a:prstDash val="solid"/>
                      <a:round/>
                      <a:headEnd type="none" w="med" len="med"/>
                      <a:tailEnd type="none" w="med" len="med"/>
                    </a:lnT>
                    <a:lnB w="6350" cap="flat" cmpd="sng" algn="ctr">
                      <a:solidFill>
                        <a:srgbClr val="C8D3D6"/>
                      </a:solidFill>
                      <a:prstDash val="solid"/>
                      <a:round/>
                      <a:headEnd type="none" w="med" len="med"/>
                      <a:tailEnd type="none" w="med" len="med"/>
                    </a:lnB>
                    <a:solidFill>
                      <a:srgbClr val="F3F7F8"/>
                    </a:solidFill>
                  </a:tcPr>
                </a:tc>
                <a:tc>
                  <a:txBody>
                    <a:bodyPr/>
                    <a:lstStyle/>
                    <a:p>
                      <a:pPr indent="0" marL="0">
                        <a:buNone/>
                      </a:pPr>
                      <a:r>
                        <a:rPr lang="en-US" sz="1050" dirty="0">
                          <a:solidFill>
                            <a:srgbClr val="222222"/>
                          </a:solidFill>
                          <a:latin typeface="Calibri" pitchFamily="34" charset="0"/>
                          <a:ea typeface="Calibri" pitchFamily="34" charset="-122"/>
                          <a:cs typeface="Calibri" pitchFamily="34" charset="-120"/>
                        </a:rPr>
                        <a:t>L1 loss</a:t>
                      </a:r>
                      <a:endParaRPr lang="en-US" sz="1050" dirty="0">
                        <a:latin typeface="Calibri" charset="0"/>
                        <a:ea typeface="Calibri" charset="0"/>
                        <a:cs typeface="Calibri" charset="0"/>
                      </a:endParaRPr>
                    </a:p>
                  </a:txBody>
                  <a:tcPr marL="91440" marR="91440" marT="45720" marB="45720">
                    <a:lnL w="6350" cap="flat" cmpd="sng" algn="ctr">
                      <a:solidFill>
                        <a:srgbClr val="C8D3D6"/>
                      </a:solidFill>
                      <a:prstDash val="solid"/>
                      <a:round/>
                      <a:headEnd type="none" w="med" len="med"/>
                      <a:tailEnd type="none" w="med" len="med"/>
                    </a:lnL>
                    <a:lnR w="6350" cap="flat" cmpd="sng" algn="ctr">
                      <a:solidFill>
                        <a:srgbClr val="C8D3D6"/>
                      </a:solidFill>
                      <a:prstDash val="solid"/>
                      <a:round/>
                      <a:headEnd type="none" w="med" len="med"/>
                      <a:tailEnd type="none" w="med" len="med"/>
                    </a:lnR>
                    <a:lnT w="6350" cap="flat" cmpd="sng" algn="ctr">
                      <a:solidFill>
                        <a:srgbClr val="C8D3D6"/>
                      </a:solidFill>
                      <a:prstDash val="solid"/>
                      <a:round/>
                      <a:headEnd type="none" w="med" len="med"/>
                      <a:tailEnd type="none" w="med" len="med"/>
                    </a:lnT>
                    <a:lnB w="6350" cap="flat" cmpd="sng" algn="ctr">
                      <a:solidFill>
                        <a:srgbClr val="C8D3D6"/>
                      </a:solidFill>
                      <a:prstDash val="solid"/>
                      <a:round/>
                      <a:headEnd type="none" w="med" len="med"/>
                      <a:tailEnd type="none" w="med" len="med"/>
                    </a:lnB>
                    <a:solidFill>
                      <a:srgbClr val="F3F7F8"/>
                    </a:solidFill>
                  </a:tcPr>
                </a:tc>
              </a:tr>
            </a:tbl>
          </a:graphicData>
        </a:graphic>
      </p:graphicFrame>
      <p:sp>
        <p:nvSpPr>
          <p:cNvPr id="7" name="Text 2"/>
          <p:cNvSpPr/>
          <p:nvPr/>
        </p:nvSpPr>
        <p:spPr>
          <a:xfrm>
            <a:off x="4572000" y="868680"/>
            <a:ext cx="4206240" cy="2286000"/>
          </a:xfrm>
          <a:prstGeom prst="rect">
            <a:avLst/>
          </a:prstGeom>
          <a:noFill/>
          <a:ln/>
        </p:spPr>
        <p:txBody>
          <a:bodyPr wrap="square" rtlCol="0" anchor="t"/>
          <a:lstStyle/>
          <a:p>
            <a:pPr marL="342900" indent="-342900">
              <a:spcAft>
                <a:spcPts val="600"/>
              </a:spcAft>
              <a:buSzPct val="100000"/>
              <a:buChar char="•"/>
            </a:pPr>
            <a:r>
              <a:rPr lang="en-US" sz="1200" dirty="0">
                <a:solidFill>
                  <a:srgbClr val="222222"/>
                </a:solidFill>
                <a:latin typeface="Calibri" pitchFamily="34" charset="0"/>
                <a:ea typeface="Calibri" pitchFamily="34" charset="-122"/>
                <a:cs typeface="Calibri" pitchFamily="34" charset="-120"/>
              </a:rPr>
              <a:t>Weight: abs() for sign flips; NaN stays NaN</a:t>
            </a:r>
            <a:endParaRPr lang="en-US" sz="1200" dirty="0"/>
          </a:p>
          <a:p>
            <a:pPr marL="342900" indent="-342900">
              <a:spcAft>
                <a:spcPts val="600"/>
              </a:spcAft>
              <a:buSzPct val="100000"/>
              <a:buChar char="•"/>
            </a:pPr>
            <a:r>
              <a:rPr lang="en-US" sz="1200" dirty="0">
                <a:solidFill>
                  <a:srgbClr val="222222"/>
                </a:solidFill>
                <a:latin typeface="Calibri" pitchFamily="34" charset="0"/>
                <a:ea typeface="Calibri" pitchFamily="34" charset="-122"/>
                <a:cs typeface="Calibri" pitchFamily="34" charset="-120"/>
              </a:rPr>
              <a:t>market_index: daily mean; no reading = no adjustment</a:t>
            </a:r>
            <a:endParaRPr lang="en-US" sz="1200" dirty="0"/>
          </a:p>
          <a:p>
            <a:pPr marL="342900" indent="-342900">
              <a:spcAft>
                <a:spcPts val="600"/>
              </a:spcAft>
              <a:buSzPct val="100000"/>
              <a:buChar char="•"/>
            </a:pPr>
            <a:r>
              <a:rPr lang="en-US" sz="1200" dirty="0">
                <a:solidFill>
                  <a:srgbClr val="222222"/>
                </a:solidFill>
                <a:latin typeface="Calibri" pitchFamily="34" charset="0"/>
                <a:ea typeface="Calibri" pitchFamily="34" charset="-122"/>
                <a:cs typeface="Calibri" pitchFamily="34" charset="-120"/>
              </a:rPr>
              <a:t>Distance: floor at 70 mi + noise: add straight-line distance</a:t>
            </a:r>
            <a:endParaRPr lang="en-US" sz="1200" dirty="0"/>
          </a:p>
          <a:p>
            <a:pPr marL="342900" indent="-342900">
              <a:spcAft>
                <a:spcPts val="600"/>
              </a:spcAft>
              <a:buSzPct val="100000"/>
              <a:buChar char="•"/>
            </a:pPr>
            <a:r>
              <a:rPr lang="en-US" sz="1200" dirty="0">
                <a:solidFill>
                  <a:srgbClr val="222222"/>
                </a:solidFill>
                <a:latin typeface="Calibri" pitchFamily="34" charset="0"/>
                <a:ea typeface="Calibri" pitchFamily="34" charset="-122"/>
                <a:cs typeface="Calibri" pitchFamily="34" charset="-120"/>
              </a:rPr>
              <a:t>Unseen cities: no city IDs; geography via distance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64A56"/>
          </a:solidFill>
          <a:ln w="12700">
            <a:solidFill>
              <a:srgbClr val="064A56"/>
            </a:solidFill>
            <a:prstDash val="solid"/>
          </a:ln>
        </p:spPr>
      </p:sp>
      <p:sp>
        <p:nvSpPr>
          <p:cNvPr id="3" name="Text 1"/>
          <p:cNvSpPr/>
          <p:nvPr/>
        </p:nvSpPr>
        <p:spPr>
          <a:xfrm>
            <a:off x="457200" y="182880"/>
            <a:ext cx="8229600" cy="548640"/>
          </a:xfrm>
          <a:prstGeom prst="rect">
            <a:avLst/>
          </a:prstGeom>
          <a:noFill/>
          <a:ln/>
        </p:spPr>
        <p:txBody>
          <a:bodyPr wrap="square" lIns="0" tIns="0" rIns="0" bIns="0" rtlCol="0" anchor="ctr"/>
          <a:lstStyle/>
          <a:p>
            <a:pPr indent="0" marL="0">
              <a:buNone/>
            </a:pPr>
            <a:r>
              <a:rPr lang="en-US" sz="2400" b="1" dirty="0">
                <a:solidFill>
                  <a:srgbClr val="064A56"/>
                </a:solidFill>
                <a:latin typeface="Calibri" pitchFamily="34" charset="0"/>
                <a:ea typeface="Calibri" pitchFamily="34" charset="-122"/>
                <a:cs typeface="Calibri" pitchFamily="34" charset="-120"/>
              </a:rPr>
              <a:t>quote_signal: a regime-aware feature</a:t>
            </a:r>
            <a:endParaRPr lang="en-US" sz="2400" dirty="0"/>
          </a:p>
        </p:txBody>
      </p:sp>
      <p:pic>
        <p:nvPicPr>
          <p:cNvPr id="5" name="Image 0" descr="/mnt/user-data/outputs/freight-rate-prediction/outputs/figures/eda_regime.png">    </p:cNvPr>
          <p:cNvPicPr>
            <a:picLocks noChangeAspect="1"/>
          </p:cNvPicPr>
          <p:nvPr/>
        </p:nvPicPr>
        <p:blipFill>
          <a:blip r:embed="rId1"/>
          <a:stretch>
            <a:fillRect/>
          </a:stretch>
        </p:blipFill>
        <p:spPr>
          <a:xfrm>
            <a:off x="365760" y="868680"/>
            <a:ext cx="4846320" cy="2584704"/>
          </a:xfrm>
          <a:prstGeom prst="rect">
            <a:avLst/>
          </a:prstGeom>
        </p:spPr>
      </p:pic>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394960" y="914400"/>
          <a:ext cx="3474720" cy="914400"/>
        </p:xfrm>
        <a:graphic>
          <a:graphicData uri="http://schemas.openxmlformats.org/drawingml/2006/table">
            <a:tbl>
              <a:tblPr/>
              <a:tblGrid>
                <a:gridCol w="1463040"/>
                <a:gridCol w="1005840"/>
                <a:gridCol w="1005840"/>
              </a:tblGrid>
              <a:tr h="329184">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Median % error</a:t>
                      </a:r>
                      <a:endParaRPr lang="en-US" sz="1100" dirty="0">
                        <a:latin typeface="Calibri" charset="0"/>
                        <a:ea typeface="Calibri" charset="0"/>
                        <a:cs typeface="Calibri" charset="0"/>
                      </a:endParaRPr>
                    </a:p>
                  </a:txBody>
                  <a:tcPr marL="91440" marR="91440" marT="45720" marB="45720">
                    <a:lnL w="6350" cap="flat" cmpd="sng" algn="ctr">
                      <a:solidFill>
                        <a:srgbClr val="C8D3D6"/>
                      </a:solidFill>
                      <a:prstDash val="solid"/>
                      <a:round/>
                      <a:headEnd type="none" w="med" len="med"/>
                      <a:tailEnd type="none" w="med" len="med"/>
                    </a:lnL>
                    <a:lnR w="6350" cap="flat" cmpd="sng" algn="ctr">
                      <a:solidFill>
                        <a:srgbClr val="C8D3D6"/>
                      </a:solidFill>
                      <a:prstDash val="solid"/>
                      <a:round/>
                      <a:headEnd type="none" w="med" len="med"/>
                      <a:tailEnd type="none" w="med" len="med"/>
                    </a:lnR>
                    <a:lnT w="6350" cap="flat" cmpd="sng" algn="ctr">
                      <a:solidFill>
                        <a:srgbClr val="C8D3D6"/>
                      </a:solidFill>
                      <a:prstDash val="solid"/>
                      <a:round/>
                      <a:headEnd type="none" w="med" len="med"/>
                      <a:tailEnd type="none" w="med" len="med"/>
                    </a:lnT>
                    <a:lnB w="6350" cap="flat" cmpd="sng" algn="ctr">
                      <a:solidFill>
                        <a:srgbClr val="C8D3D6"/>
                      </a:solidFill>
                      <a:prstDash val="solid"/>
                      <a:round/>
                      <a:headEnd type="none" w="med" len="med"/>
                      <a:tailEnd type="none" w="med" len="med"/>
                    </a:lnB>
                    <a:solidFill>
                      <a:srgbClr val="064A56"/>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5-fold</a:t>
                      </a:r>
                      <a:endParaRPr lang="en-US" sz="1100" dirty="0">
                        <a:latin typeface="Calibri" charset="0"/>
                        <a:ea typeface="Calibri" charset="0"/>
                        <a:cs typeface="Calibri" charset="0"/>
                      </a:endParaRPr>
                    </a:p>
                  </a:txBody>
                  <a:tcPr marL="91440" marR="91440" marT="45720" marB="45720">
                    <a:lnL w="6350" cap="flat" cmpd="sng" algn="ctr">
                      <a:solidFill>
                        <a:srgbClr val="C8D3D6"/>
                      </a:solidFill>
                      <a:prstDash val="solid"/>
                      <a:round/>
                      <a:headEnd type="none" w="med" len="med"/>
                      <a:tailEnd type="none" w="med" len="med"/>
                    </a:lnL>
                    <a:lnR w="6350" cap="flat" cmpd="sng" algn="ctr">
                      <a:solidFill>
                        <a:srgbClr val="C8D3D6"/>
                      </a:solidFill>
                      <a:prstDash val="solid"/>
                      <a:round/>
                      <a:headEnd type="none" w="med" len="med"/>
                      <a:tailEnd type="none" w="med" len="med"/>
                    </a:lnR>
                    <a:lnT w="6350" cap="flat" cmpd="sng" algn="ctr">
                      <a:solidFill>
                        <a:srgbClr val="C8D3D6"/>
                      </a:solidFill>
                      <a:prstDash val="solid"/>
                      <a:round/>
                      <a:headEnd type="none" w="med" len="med"/>
                      <a:tailEnd type="none" w="med" len="med"/>
                    </a:lnT>
                    <a:lnB w="6350" cap="flat" cmpd="sng" algn="ctr">
                      <a:solidFill>
                        <a:srgbClr val="C8D3D6"/>
                      </a:solidFill>
                      <a:prstDash val="solid"/>
                      <a:round/>
                      <a:headEnd type="none" w="med" len="med"/>
                      <a:tailEnd type="none" w="med" len="med"/>
                    </a:lnB>
                    <a:solidFill>
                      <a:srgbClr val="064A56"/>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Noise test</a:t>
                      </a:r>
                      <a:endParaRPr lang="en-US" sz="1100" dirty="0">
                        <a:latin typeface="Calibri" charset="0"/>
                        <a:ea typeface="Calibri" charset="0"/>
                        <a:cs typeface="Calibri" charset="0"/>
                      </a:endParaRPr>
                    </a:p>
                  </a:txBody>
                  <a:tcPr marL="91440" marR="91440" marT="45720" marB="45720">
                    <a:lnL w="6350" cap="flat" cmpd="sng" algn="ctr">
                      <a:solidFill>
                        <a:srgbClr val="C8D3D6"/>
                      </a:solidFill>
                      <a:prstDash val="solid"/>
                      <a:round/>
                      <a:headEnd type="none" w="med" len="med"/>
                      <a:tailEnd type="none" w="med" len="med"/>
                    </a:lnL>
                    <a:lnR w="6350" cap="flat" cmpd="sng" algn="ctr">
                      <a:solidFill>
                        <a:srgbClr val="C8D3D6"/>
                      </a:solidFill>
                      <a:prstDash val="solid"/>
                      <a:round/>
                      <a:headEnd type="none" w="med" len="med"/>
                      <a:tailEnd type="none" w="med" len="med"/>
                    </a:lnR>
                    <a:lnT w="6350" cap="flat" cmpd="sng" algn="ctr">
                      <a:solidFill>
                        <a:srgbClr val="C8D3D6"/>
                      </a:solidFill>
                      <a:prstDash val="solid"/>
                      <a:round/>
                      <a:headEnd type="none" w="med" len="med"/>
                      <a:tailEnd type="none" w="med" len="med"/>
                    </a:lnT>
                    <a:lnB w="6350" cap="flat" cmpd="sng" algn="ctr">
                      <a:solidFill>
                        <a:srgbClr val="C8D3D6"/>
                      </a:solidFill>
                      <a:prstDash val="solid"/>
                      <a:round/>
                      <a:headEnd type="none" w="med" len="med"/>
                      <a:tailEnd type="none" w="med" len="med"/>
                    </a:lnB>
                    <a:solidFill>
                      <a:srgbClr val="064A56"/>
                    </a:solidFill>
                  </a:tcPr>
                </a:tc>
              </a:tr>
              <a:tr h="329184">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Exclude</a:t>
                      </a:r>
                      <a:endParaRPr lang="en-US" sz="1100" dirty="0">
                        <a:latin typeface="Calibri" charset="0"/>
                        <a:ea typeface="Calibri" charset="0"/>
                        <a:cs typeface="Calibri" charset="0"/>
                      </a:endParaRPr>
                    </a:p>
                  </a:txBody>
                  <a:tcPr marL="91440" marR="91440" marT="45720" marB="45720">
                    <a:lnL w="6350" cap="flat" cmpd="sng" algn="ctr">
                      <a:solidFill>
                        <a:srgbClr val="C8D3D6"/>
                      </a:solidFill>
                      <a:prstDash val="solid"/>
                      <a:round/>
                      <a:headEnd type="none" w="med" len="med"/>
                      <a:tailEnd type="none" w="med" len="med"/>
                    </a:lnL>
                    <a:lnR w="6350" cap="flat" cmpd="sng" algn="ctr">
                      <a:solidFill>
                        <a:srgbClr val="C8D3D6"/>
                      </a:solidFill>
                      <a:prstDash val="solid"/>
                      <a:round/>
                      <a:headEnd type="none" w="med" len="med"/>
                      <a:tailEnd type="none" w="med" len="med"/>
                    </a:lnR>
                    <a:lnT w="6350" cap="flat" cmpd="sng" algn="ctr">
                      <a:solidFill>
                        <a:srgbClr val="C8D3D6"/>
                      </a:solidFill>
                      <a:prstDash val="solid"/>
                      <a:round/>
                      <a:headEnd type="none" w="med" len="med"/>
                      <a:tailEnd type="none" w="med" len="med"/>
                    </a:lnT>
                    <a:lnB w="6350" cap="flat" cmpd="sng" algn="ctr">
                      <a:solidFill>
                        <a:srgbClr val="C8D3D6"/>
                      </a:solidFill>
                      <a:prstDash val="solid"/>
                      <a:round/>
                      <a:headEnd type="none" w="med" len="med"/>
                      <a:tailEnd type="none" w="med" len="med"/>
                    </a:lnB>
                    <a:solidFill>
                      <a:srgbClr val="F3F7F8"/>
                    </a:solidFill>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2.80</a:t>
                      </a:r>
                      <a:endParaRPr lang="en-US" sz="1100" dirty="0">
                        <a:latin typeface="Calibri" charset="0"/>
                        <a:ea typeface="Calibri" charset="0"/>
                        <a:cs typeface="Calibri" charset="0"/>
                      </a:endParaRPr>
                    </a:p>
                  </a:txBody>
                  <a:tcPr marL="91440" marR="91440" marT="45720" marB="45720">
                    <a:lnL w="6350" cap="flat" cmpd="sng" algn="ctr">
                      <a:solidFill>
                        <a:srgbClr val="C8D3D6"/>
                      </a:solidFill>
                      <a:prstDash val="solid"/>
                      <a:round/>
                      <a:headEnd type="none" w="med" len="med"/>
                      <a:tailEnd type="none" w="med" len="med"/>
                    </a:lnL>
                    <a:lnR w="6350" cap="flat" cmpd="sng" algn="ctr">
                      <a:solidFill>
                        <a:srgbClr val="C8D3D6"/>
                      </a:solidFill>
                      <a:prstDash val="solid"/>
                      <a:round/>
                      <a:headEnd type="none" w="med" len="med"/>
                      <a:tailEnd type="none" w="med" len="med"/>
                    </a:lnR>
                    <a:lnT w="6350" cap="flat" cmpd="sng" algn="ctr">
                      <a:solidFill>
                        <a:srgbClr val="C8D3D6"/>
                      </a:solidFill>
                      <a:prstDash val="solid"/>
                      <a:round/>
                      <a:headEnd type="none" w="med" len="med"/>
                      <a:tailEnd type="none" w="med" len="med"/>
                    </a:lnT>
                    <a:lnB w="6350" cap="flat" cmpd="sng" algn="ctr">
                      <a:solidFill>
                        <a:srgbClr val="C8D3D6"/>
                      </a:solidFill>
                      <a:prstDash val="solid"/>
                      <a:round/>
                      <a:headEnd type="none" w="med" len="med"/>
                      <a:tailEnd type="none" w="med" len="med"/>
                    </a:lnB>
                    <a:solidFill>
                      <a:srgbClr val="F3F7F8"/>
                    </a:solidFill>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2.45</a:t>
                      </a:r>
                      <a:endParaRPr lang="en-US" sz="1100" dirty="0">
                        <a:latin typeface="Calibri" charset="0"/>
                        <a:ea typeface="Calibri" charset="0"/>
                        <a:cs typeface="Calibri" charset="0"/>
                      </a:endParaRPr>
                    </a:p>
                  </a:txBody>
                  <a:tcPr marL="91440" marR="91440" marT="45720" marB="45720">
                    <a:lnL w="6350" cap="flat" cmpd="sng" algn="ctr">
                      <a:solidFill>
                        <a:srgbClr val="C8D3D6"/>
                      </a:solidFill>
                      <a:prstDash val="solid"/>
                      <a:round/>
                      <a:headEnd type="none" w="med" len="med"/>
                      <a:tailEnd type="none" w="med" len="med"/>
                    </a:lnL>
                    <a:lnR w="6350" cap="flat" cmpd="sng" algn="ctr">
                      <a:solidFill>
                        <a:srgbClr val="C8D3D6"/>
                      </a:solidFill>
                      <a:prstDash val="solid"/>
                      <a:round/>
                      <a:headEnd type="none" w="med" len="med"/>
                      <a:tailEnd type="none" w="med" len="med"/>
                    </a:lnR>
                    <a:lnT w="6350" cap="flat" cmpd="sng" algn="ctr">
                      <a:solidFill>
                        <a:srgbClr val="C8D3D6"/>
                      </a:solidFill>
                      <a:prstDash val="solid"/>
                      <a:round/>
                      <a:headEnd type="none" w="med" len="med"/>
                      <a:tailEnd type="none" w="med" len="med"/>
                    </a:lnT>
                    <a:lnB w="6350" cap="flat" cmpd="sng" algn="ctr">
                      <a:solidFill>
                        <a:srgbClr val="C8D3D6"/>
                      </a:solidFill>
                      <a:prstDash val="solid"/>
                      <a:round/>
                      <a:headEnd type="none" w="med" len="med"/>
                      <a:tailEnd type="none" w="med" len="med"/>
                    </a:lnB>
                    <a:solidFill>
                      <a:srgbClr val="F3F7F8"/>
                    </a:solidFill>
                  </a:tcPr>
                </a:tc>
              </a:tr>
              <a:tr h="329184">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Raw</a:t>
                      </a:r>
                      <a:endParaRPr lang="en-US" sz="1100" dirty="0">
                        <a:latin typeface="Calibri" charset="0"/>
                        <a:ea typeface="Calibri" charset="0"/>
                        <a:cs typeface="Calibri" charset="0"/>
                      </a:endParaRPr>
                    </a:p>
                  </a:txBody>
                  <a:tcPr marL="91440" marR="91440" marT="45720" marB="45720">
                    <a:lnL w="6350" cap="flat" cmpd="sng" algn="ctr">
                      <a:solidFill>
                        <a:srgbClr val="C8D3D6"/>
                      </a:solidFill>
                      <a:prstDash val="solid"/>
                      <a:round/>
                      <a:headEnd type="none" w="med" len="med"/>
                      <a:tailEnd type="none" w="med" len="med"/>
                    </a:lnL>
                    <a:lnR w="6350" cap="flat" cmpd="sng" algn="ctr">
                      <a:solidFill>
                        <a:srgbClr val="C8D3D6"/>
                      </a:solidFill>
                      <a:prstDash val="solid"/>
                      <a:round/>
                      <a:headEnd type="none" w="med" len="med"/>
                      <a:tailEnd type="none" w="med" len="med"/>
                    </a:lnR>
                    <a:lnT w="6350" cap="flat" cmpd="sng" algn="ctr">
                      <a:solidFill>
                        <a:srgbClr val="C8D3D6"/>
                      </a:solidFill>
                      <a:prstDash val="solid"/>
                      <a:round/>
                      <a:headEnd type="none" w="med" len="med"/>
                      <a:tailEnd type="none" w="med" len="med"/>
                    </a:lnT>
                    <a:lnB w="6350" cap="flat" cmpd="sng" algn="ctr">
                      <a:solidFill>
                        <a:srgbClr val="C8D3D6"/>
                      </a:solidFill>
                      <a:prstDash val="solid"/>
                      <a:round/>
                      <a:headEnd type="none" w="med" len="med"/>
                      <a:tailEnd type="none" w="med" len="med"/>
                    </a:lnB>
                    <a:solidFill>
                      <a:srgbClr val="FFFFFF"/>
                    </a:solidFill>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2.10</a:t>
                      </a:r>
                      <a:endParaRPr lang="en-US" sz="1100" dirty="0">
                        <a:latin typeface="Calibri" charset="0"/>
                        <a:ea typeface="Calibri" charset="0"/>
                        <a:cs typeface="Calibri" charset="0"/>
                      </a:endParaRPr>
                    </a:p>
                  </a:txBody>
                  <a:tcPr marL="91440" marR="91440" marT="45720" marB="45720">
                    <a:lnL w="6350" cap="flat" cmpd="sng" algn="ctr">
                      <a:solidFill>
                        <a:srgbClr val="C8D3D6"/>
                      </a:solidFill>
                      <a:prstDash val="solid"/>
                      <a:round/>
                      <a:headEnd type="none" w="med" len="med"/>
                      <a:tailEnd type="none" w="med" len="med"/>
                    </a:lnL>
                    <a:lnR w="6350" cap="flat" cmpd="sng" algn="ctr">
                      <a:solidFill>
                        <a:srgbClr val="C8D3D6"/>
                      </a:solidFill>
                      <a:prstDash val="solid"/>
                      <a:round/>
                      <a:headEnd type="none" w="med" len="med"/>
                      <a:tailEnd type="none" w="med" len="med"/>
                    </a:lnR>
                    <a:lnT w="6350" cap="flat" cmpd="sng" algn="ctr">
                      <a:solidFill>
                        <a:srgbClr val="C8D3D6"/>
                      </a:solidFill>
                      <a:prstDash val="solid"/>
                      <a:round/>
                      <a:headEnd type="none" w="med" len="med"/>
                      <a:tailEnd type="none" w="med" len="med"/>
                    </a:lnT>
                    <a:lnB w="6350" cap="flat" cmpd="sng" algn="ctr">
                      <a:solidFill>
                        <a:srgbClr val="C8D3D6"/>
                      </a:solidFill>
                      <a:prstDash val="solid"/>
                      <a:round/>
                      <a:headEnd type="none" w="med" len="med"/>
                      <a:tailEnd type="none" w="med" len="med"/>
                    </a:lnB>
                    <a:solidFill>
                      <a:srgbClr val="FFFFFF"/>
                    </a:solidFill>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2.55</a:t>
                      </a:r>
                      <a:endParaRPr lang="en-US" sz="1100" dirty="0">
                        <a:latin typeface="Calibri" charset="0"/>
                        <a:ea typeface="Calibri" charset="0"/>
                        <a:cs typeface="Calibri" charset="0"/>
                      </a:endParaRPr>
                    </a:p>
                  </a:txBody>
                  <a:tcPr marL="91440" marR="91440" marT="45720" marB="45720">
                    <a:lnL w="6350" cap="flat" cmpd="sng" algn="ctr">
                      <a:solidFill>
                        <a:srgbClr val="C8D3D6"/>
                      </a:solidFill>
                      <a:prstDash val="solid"/>
                      <a:round/>
                      <a:headEnd type="none" w="med" len="med"/>
                      <a:tailEnd type="none" w="med" len="med"/>
                    </a:lnL>
                    <a:lnR w="6350" cap="flat" cmpd="sng" algn="ctr">
                      <a:solidFill>
                        <a:srgbClr val="C8D3D6"/>
                      </a:solidFill>
                      <a:prstDash val="solid"/>
                      <a:round/>
                      <a:headEnd type="none" w="med" len="med"/>
                      <a:tailEnd type="none" w="med" len="med"/>
                    </a:lnR>
                    <a:lnT w="6350" cap="flat" cmpd="sng" algn="ctr">
                      <a:solidFill>
                        <a:srgbClr val="C8D3D6"/>
                      </a:solidFill>
                      <a:prstDash val="solid"/>
                      <a:round/>
                      <a:headEnd type="none" w="med" len="med"/>
                      <a:tailEnd type="none" w="med" len="med"/>
                    </a:lnT>
                    <a:lnB w="6350" cap="flat" cmpd="sng" algn="ctr">
                      <a:solidFill>
                        <a:srgbClr val="C8D3D6"/>
                      </a:solidFill>
                      <a:prstDash val="solid"/>
                      <a:round/>
                      <a:headEnd type="none" w="med" len="med"/>
                      <a:tailEnd type="none" w="med" len="med"/>
                    </a:lnB>
                    <a:solidFill>
                      <a:srgbClr val="FFFFFF"/>
                    </a:solidFill>
                  </a:tcPr>
                </a:tc>
              </a:tr>
              <a:tr h="329184">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Regime-aware</a:t>
                      </a:r>
                      <a:endParaRPr lang="en-US" sz="1100" dirty="0">
                        <a:latin typeface="Calibri" charset="0"/>
                        <a:ea typeface="Calibri" charset="0"/>
                        <a:cs typeface="Calibri" charset="0"/>
                      </a:endParaRPr>
                    </a:p>
                  </a:txBody>
                  <a:tcPr marL="91440" marR="91440" marT="45720" marB="45720">
                    <a:lnL w="6350" cap="flat" cmpd="sng" algn="ctr">
                      <a:solidFill>
                        <a:srgbClr val="C8D3D6"/>
                      </a:solidFill>
                      <a:prstDash val="solid"/>
                      <a:round/>
                      <a:headEnd type="none" w="med" len="med"/>
                      <a:tailEnd type="none" w="med" len="med"/>
                    </a:lnL>
                    <a:lnR w="6350" cap="flat" cmpd="sng" algn="ctr">
                      <a:solidFill>
                        <a:srgbClr val="C8D3D6"/>
                      </a:solidFill>
                      <a:prstDash val="solid"/>
                      <a:round/>
                      <a:headEnd type="none" w="med" len="med"/>
                      <a:tailEnd type="none" w="med" len="med"/>
                    </a:lnR>
                    <a:lnT w="6350" cap="flat" cmpd="sng" algn="ctr">
                      <a:solidFill>
                        <a:srgbClr val="C8D3D6"/>
                      </a:solidFill>
                      <a:prstDash val="solid"/>
                      <a:round/>
                      <a:headEnd type="none" w="med" len="med"/>
                      <a:tailEnd type="none" w="med" len="med"/>
                    </a:lnT>
                    <a:lnB w="6350" cap="flat" cmpd="sng" algn="ctr">
                      <a:solidFill>
                        <a:srgbClr val="C8D3D6"/>
                      </a:solidFill>
                      <a:prstDash val="solid"/>
                      <a:round/>
                      <a:headEnd type="none" w="med" len="med"/>
                      <a:tailEnd type="none" w="med" len="med"/>
                    </a:lnB>
                    <a:solidFill>
                      <a:srgbClr val="F3F7F8"/>
                    </a:solidFill>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1.76</a:t>
                      </a:r>
                      <a:endParaRPr lang="en-US" sz="1100" dirty="0">
                        <a:latin typeface="Calibri" charset="0"/>
                        <a:ea typeface="Calibri" charset="0"/>
                        <a:cs typeface="Calibri" charset="0"/>
                      </a:endParaRPr>
                    </a:p>
                  </a:txBody>
                  <a:tcPr marL="91440" marR="91440" marT="45720" marB="45720">
                    <a:lnL w="6350" cap="flat" cmpd="sng" algn="ctr">
                      <a:solidFill>
                        <a:srgbClr val="C8D3D6"/>
                      </a:solidFill>
                      <a:prstDash val="solid"/>
                      <a:round/>
                      <a:headEnd type="none" w="med" len="med"/>
                      <a:tailEnd type="none" w="med" len="med"/>
                    </a:lnL>
                    <a:lnR w="6350" cap="flat" cmpd="sng" algn="ctr">
                      <a:solidFill>
                        <a:srgbClr val="C8D3D6"/>
                      </a:solidFill>
                      <a:prstDash val="solid"/>
                      <a:round/>
                      <a:headEnd type="none" w="med" len="med"/>
                      <a:tailEnd type="none" w="med" len="med"/>
                    </a:lnR>
                    <a:lnT w="6350" cap="flat" cmpd="sng" algn="ctr">
                      <a:solidFill>
                        <a:srgbClr val="C8D3D6"/>
                      </a:solidFill>
                      <a:prstDash val="solid"/>
                      <a:round/>
                      <a:headEnd type="none" w="med" len="med"/>
                      <a:tailEnd type="none" w="med" len="med"/>
                    </a:lnT>
                    <a:lnB w="6350" cap="flat" cmpd="sng" algn="ctr">
                      <a:solidFill>
                        <a:srgbClr val="C8D3D6"/>
                      </a:solidFill>
                      <a:prstDash val="solid"/>
                      <a:round/>
                      <a:headEnd type="none" w="med" len="med"/>
                      <a:tailEnd type="none" w="med" len="med"/>
                    </a:lnB>
                    <a:solidFill>
                      <a:srgbClr val="F3F7F8"/>
                    </a:solidFill>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1.59</a:t>
                      </a:r>
                      <a:endParaRPr lang="en-US" sz="1100" dirty="0">
                        <a:latin typeface="Calibri" charset="0"/>
                        <a:ea typeface="Calibri" charset="0"/>
                        <a:cs typeface="Calibri" charset="0"/>
                      </a:endParaRPr>
                    </a:p>
                  </a:txBody>
                  <a:tcPr marL="91440" marR="91440" marT="45720" marB="45720">
                    <a:lnL w="6350" cap="flat" cmpd="sng" algn="ctr">
                      <a:solidFill>
                        <a:srgbClr val="C8D3D6"/>
                      </a:solidFill>
                      <a:prstDash val="solid"/>
                      <a:round/>
                      <a:headEnd type="none" w="med" len="med"/>
                      <a:tailEnd type="none" w="med" len="med"/>
                    </a:lnL>
                    <a:lnR w="6350" cap="flat" cmpd="sng" algn="ctr">
                      <a:solidFill>
                        <a:srgbClr val="C8D3D6"/>
                      </a:solidFill>
                      <a:prstDash val="solid"/>
                      <a:round/>
                      <a:headEnd type="none" w="med" len="med"/>
                      <a:tailEnd type="none" w="med" len="med"/>
                    </a:lnR>
                    <a:lnT w="6350" cap="flat" cmpd="sng" algn="ctr">
                      <a:solidFill>
                        <a:srgbClr val="C8D3D6"/>
                      </a:solidFill>
                      <a:prstDash val="solid"/>
                      <a:round/>
                      <a:headEnd type="none" w="med" len="med"/>
                      <a:tailEnd type="none" w="med" len="med"/>
                    </a:lnT>
                    <a:lnB w="6350" cap="flat" cmpd="sng" algn="ctr">
                      <a:solidFill>
                        <a:srgbClr val="C8D3D6"/>
                      </a:solidFill>
                      <a:prstDash val="solid"/>
                      <a:round/>
                      <a:headEnd type="none" w="med" len="med"/>
                      <a:tailEnd type="none" w="med" len="med"/>
                    </a:lnB>
                    <a:solidFill>
                      <a:srgbClr val="F3F7F8"/>
                    </a:solidFill>
                  </a:tcPr>
                </a:tc>
              </a:tr>
            </a:tbl>
          </a:graphicData>
        </a:graphic>
      </p:graphicFrame>
      <p:sp>
        <p:nvSpPr>
          <p:cNvPr id="7" name="Text 2"/>
          <p:cNvSpPr/>
          <p:nvPr/>
        </p:nvSpPr>
        <p:spPr>
          <a:xfrm>
            <a:off x="5394960" y="2423160"/>
            <a:ext cx="3474720" cy="2103120"/>
          </a:xfrm>
          <a:prstGeom prst="rect">
            <a:avLst/>
          </a:prstGeom>
          <a:noFill/>
          <a:ln/>
        </p:spPr>
        <p:txBody>
          <a:bodyPr wrap="square" rtlCol="0" anchor="t"/>
          <a:lstStyle/>
          <a:p>
            <a:pPr marL="342900" indent="-342900">
              <a:spcAft>
                <a:spcPts val="600"/>
              </a:spcAft>
              <a:buSzPct val="100000"/>
              <a:buChar char="•"/>
            </a:pPr>
            <a:r>
              <a:rPr lang="en-US" sz="1200" dirty="0">
                <a:solidFill>
                  <a:srgbClr val="222222"/>
                </a:solidFill>
                <a:latin typeface="Calibri" pitchFamily="34" charset="0"/>
                <a:ea typeface="Calibri" pitchFamily="34" charset="-122"/>
                <a:cs typeface="Calibri" pitchFamily="34" charset="-120"/>
              </a:rPr>
              <a:t>qs_signed = (qs - 2.05) x regime sign; 0 in noise months</a:t>
            </a:r>
            <a:endParaRPr lang="en-US" sz="1200" dirty="0"/>
          </a:p>
          <a:p>
            <a:pPr marL="342900" indent="-342900">
              <a:spcAft>
                <a:spcPts val="600"/>
              </a:spcAft>
              <a:buSzPct val="100000"/>
              <a:buChar char="•"/>
            </a:pPr>
            <a:r>
              <a:rPr lang="en-US" sz="1200" dirty="0">
                <a:solidFill>
                  <a:srgbClr val="222222"/>
                </a:solidFill>
                <a:latin typeface="Calibri" pitchFamily="34" charset="0"/>
                <a:ea typeface="Calibri" pitchFamily="34" charset="-122"/>
                <a:cs typeface="Calibri" pitchFamily="34" charset="-120"/>
              </a:rPr>
              <a:t>First 7 days of a month give the same regime in 12 of 12 months</a:t>
            </a:r>
            <a:endParaRPr lang="en-US" sz="1200" dirty="0"/>
          </a:p>
          <a:p>
            <a:pPr marL="342900" indent="-342900">
              <a:spcAft>
                <a:spcPts val="600"/>
              </a:spcAft>
              <a:buSzPct val="100000"/>
              <a:buChar char="•"/>
            </a:pPr>
            <a:r>
              <a:rPr lang="en-US" sz="1200" dirty="0">
                <a:solidFill>
                  <a:srgbClr val="222222"/>
                </a:solidFill>
                <a:latin typeface="Calibri" pitchFamily="34" charset="0"/>
                <a:ea typeface="Calibri" pitchFamily="34" charset="-122"/>
                <a:cs typeface="Calibri" pitchFamily="34" charset="-120"/>
              </a:rPr>
              <a:t>Caveat: one noise month in labels; supported, not proven</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64A56"/>
          </a:solidFill>
          <a:ln w="12700">
            <a:solidFill>
              <a:srgbClr val="064A56"/>
            </a:solidFill>
            <a:prstDash val="solid"/>
          </a:ln>
        </p:spPr>
      </p:sp>
      <p:sp>
        <p:nvSpPr>
          <p:cNvPr id="3" name="Text 1"/>
          <p:cNvSpPr/>
          <p:nvPr/>
        </p:nvSpPr>
        <p:spPr>
          <a:xfrm>
            <a:off x="457200" y="182880"/>
            <a:ext cx="8229600" cy="548640"/>
          </a:xfrm>
          <a:prstGeom prst="rect">
            <a:avLst/>
          </a:prstGeom>
          <a:noFill/>
          <a:ln/>
        </p:spPr>
        <p:txBody>
          <a:bodyPr wrap="square" lIns="0" tIns="0" rIns="0" bIns="0" rtlCol="0" anchor="ctr"/>
          <a:lstStyle/>
          <a:p>
            <a:pPr indent="0" marL="0">
              <a:buNone/>
            </a:pPr>
            <a:r>
              <a:rPr lang="en-US" sz="2400" b="1" dirty="0">
                <a:solidFill>
                  <a:srgbClr val="064A56"/>
                </a:solidFill>
                <a:latin typeface="Calibri" pitchFamily="34" charset="0"/>
                <a:ea typeface="Calibri" pitchFamily="34" charset="-122"/>
                <a:cs typeface="Calibri" pitchFamily="34" charset="-120"/>
              </a:rPr>
              <a:t>Training and validation approach</a:t>
            </a:r>
            <a:endParaRPr lang="en-US" sz="2400" dirty="0"/>
          </a:p>
        </p:txBody>
      </p:sp>
      <p:pic>
        <p:nvPicPr>
          <p:cNvPr id="5" name="Image 0" descr="/mnt/user-data/outputs/freight-rate-prediction/outputs/figures/split_schematic.png">    </p:cNvPr>
          <p:cNvPicPr>
            <a:picLocks noChangeAspect="1"/>
          </p:cNvPicPr>
          <p:nvPr/>
        </p:nvPicPr>
        <p:blipFill>
          <a:blip r:embed="rId1"/>
          <a:stretch>
            <a:fillRect/>
          </a:stretch>
        </p:blipFill>
        <p:spPr>
          <a:xfrm>
            <a:off x="365760" y="868680"/>
            <a:ext cx="5303520" cy="1666821"/>
          </a:xfrm>
          <a:prstGeom prst="rect">
            <a:avLst/>
          </a:prstGeom>
        </p:spPr>
      </p:pic>
      <p:pic>
        <p:nvPicPr>
          <p:cNvPr id="6" name="Image 1" descr="/mnt/user-data/outputs/freight-rate-prediction/outputs/figures/leakage_demo.png">    </p:cNvPr>
          <p:cNvPicPr>
            <a:picLocks noChangeAspect="1"/>
          </p:cNvPicPr>
          <p:nvPr/>
        </p:nvPicPr>
        <p:blipFill>
          <a:blip r:embed="rId2"/>
          <a:stretch>
            <a:fillRect/>
          </a:stretch>
        </p:blipFill>
        <p:spPr>
          <a:xfrm>
            <a:off x="5852160" y="868680"/>
            <a:ext cx="2926080" cy="2025748"/>
          </a:xfrm>
          <a:prstGeom prst="rect">
            <a:avLst/>
          </a:prstGeom>
        </p:spPr>
      </p:pic>
      <p:sp>
        <p:nvSpPr>
          <p:cNvPr id="7" name="Text 2"/>
          <p:cNvSpPr/>
          <p:nvPr/>
        </p:nvSpPr>
        <p:spPr>
          <a:xfrm>
            <a:off x="457200" y="2926080"/>
            <a:ext cx="5303520" cy="2011680"/>
          </a:xfrm>
          <a:prstGeom prst="rect">
            <a:avLst/>
          </a:prstGeom>
          <a:noFill/>
          <a:ln/>
        </p:spPr>
        <p:txBody>
          <a:bodyPr wrap="square" rtlCol="0" anchor="t"/>
          <a:lstStyle/>
          <a:p>
            <a:pPr marL="342900" indent="-342900">
              <a:spcAft>
                <a:spcPts val="600"/>
              </a:spcAft>
              <a:buSzPct val="100000"/>
              <a:buChar char="•"/>
            </a:pPr>
            <a:r>
              <a:rPr lang="en-US" sz="1250" dirty="0">
                <a:solidFill>
                  <a:srgbClr val="222222"/>
                </a:solidFill>
                <a:latin typeface="Calibri" pitchFamily="34" charset="0"/>
                <a:ea typeface="Calibri" pitchFamily="34" charset="-122"/>
                <a:cs typeface="Calibri" pitchFamily="34" charset="-120"/>
              </a:rPr>
              <a:t>5 forward folds, 2-month horizon, expanding window</a:t>
            </a:r>
            <a:endParaRPr lang="en-US" sz="1250" dirty="0"/>
          </a:p>
          <a:p>
            <a:pPr marL="342900" indent="-342900">
              <a:spcAft>
                <a:spcPts val="600"/>
              </a:spcAft>
              <a:buSzPct val="100000"/>
              <a:buChar char="•"/>
            </a:pPr>
            <a:r>
              <a:rPr lang="en-US" sz="1250" dirty="0">
                <a:solidFill>
                  <a:srgbClr val="222222"/>
                </a:solidFill>
                <a:latin typeface="Calibri" pitchFamily="34" charset="0"/>
                <a:ea typeface="Calibri" pitchFamily="34" charset="-122"/>
                <a:cs typeface="Calibri" pitchFamily="34" charset="-120"/>
              </a:rPr>
              <a:t>Weights, slope and model fitted inside each fold only</a:t>
            </a:r>
            <a:endParaRPr lang="en-US" sz="1250" dirty="0"/>
          </a:p>
          <a:p>
            <a:pPr marL="342900" indent="-342900">
              <a:spcAft>
                <a:spcPts val="600"/>
              </a:spcAft>
              <a:buSzPct val="100000"/>
              <a:buChar char="•"/>
            </a:pPr>
            <a:r>
              <a:rPr lang="en-US" sz="1250" dirty="0">
                <a:solidFill>
                  <a:srgbClr val="222222"/>
                </a:solidFill>
                <a:latin typeface="Calibri" pitchFamily="34" charset="0"/>
                <a:ea typeface="Calibri" pitchFamily="34" charset="-122"/>
                <a:cs typeface="Calibri" pitchFamily="34" charset="-120"/>
              </a:rPr>
              <a:t>No month, day-of-year or date-ID features</a:t>
            </a:r>
            <a:endParaRPr lang="en-US" sz="1250" dirty="0"/>
          </a:p>
          <a:p>
            <a:pPr marL="342900" indent="-342900">
              <a:spcAft>
                <a:spcPts val="600"/>
              </a:spcAft>
              <a:buSzPct val="100000"/>
              <a:buChar char="•"/>
            </a:pPr>
            <a:r>
              <a:rPr lang="en-US" sz="1250" dirty="0">
                <a:solidFill>
                  <a:srgbClr val="222222"/>
                </a:solidFill>
                <a:latin typeface="Calibri" pitchFamily="34" charset="0"/>
                <a:ea typeface="Calibri" pitchFamily="34" charset="-122"/>
                <a:cs typeface="Calibri" pitchFamily="34" charset="-120"/>
              </a:rPr>
              <a:t>Random 5-fold 1.44% vs forward 2.44% median error (1.7x too optimistic)</a:t>
            </a:r>
            <a:endParaRPr lang="en-US" sz="1250" dirty="0"/>
          </a:p>
          <a:p>
            <a:pPr marL="342900" indent="-342900">
              <a:spcAft>
                <a:spcPts val="600"/>
              </a:spcAft>
              <a:buSzPct val="100000"/>
              <a:buChar char="•"/>
            </a:pPr>
            <a:r>
              <a:rPr lang="en-US" sz="1250" dirty="0">
                <a:solidFill>
                  <a:srgbClr val="222222"/>
                </a:solidFill>
                <a:latin typeface="Calibri" pitchFamily="34" charset="0"/>
                <a:ea typeface="Calibri" pitchFamily="34" charset="-122"/>
                <a:cs typeface="Calibri" pitchFamily="34" charset="-120"/>
              </a:rPr>
              <a:t>Unseen-city test (8 cities held out): 1.43% median error, same as without coordinates</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64A56"/>
          </a:solidFill>
          <a:ln w="12700">
            <a:solidFill>
              <a:srgbClr val="064A56"/>
            </a:solidFill>
            <a:prstDash val="solid"/>
          </a:ln>
        </p:spPr>
      </p:sp>
      <p:sp>
        <p:nvSpPr>
          <p:cNvPr id="3" name="Text 1"/>
          <p:cNvSpPr/>
          <p:nvPr/>
        </p:nvSpPr>
        <p:spPr>
          <a:xfrm>
            <a:off x="457200" y="182880"/>
            <a:ext cx="8229600" cy="548640"/>
          </a:xfrm>
          <a:prstGeom prst="rect">
            <a:avLst/>
          </a:prstGeom>
          <a:noFill/>
          <a:ln/>
        </p:spPr>
        <p:txBody>
          <a:bodyPr wrap="square" lIns="0" tIns="0" rIns="0" bIns="0" rtlCol="0" anchor="ctr"/>
          <a:lstStyle/>
          <a:p>
            <a:pPr indent="0" marL="0">
              <a:buNone/>
            </a:pPr>
            <a:r>
              <a:rPr lang="en-US" sz="2400" b="1" dirty="0">
                <a:solidFill>
                  <a:srgbClr val="064A56"/>
                </a:solidFill>
                <a:latin typeface="Calibri" pitchFamily="34" charset="0"/>
                <a:ea typeface="Calibri" pitchFamily="34" charset="-122"/>
                <a:cs typeface="Calibri" pitchFamily="34" charset="-120"/>
              </a:rPr>
              <a:t>Why this model</a:t>
            </a:r>
            <a:endParaRPr lang="en-US" sz="2400" dirty="0"/>
          </a:p>
        </p:txBody>
      </p:sp>
      <p:graphicFrame>
        <p:nvGraphicFramePr>
          <p:cNvPr id="5" name="Chart 0" descr=""/>
          <p:cNvGraphicFramePr/>
          <p:nvPr/>
        </p:nvGraphicFramePr>
        <p:xfrm>
          <a:off x="365760" y="868680"/>
          <a:ext cx="4572000" cy="3383280"/>
        </p:xfrm>
        <a:graphic xmlns:a="http://schemas.openxmlformats.org/drawingml/2006/main">
          <a:graphicData uri="http://schemas.openxmlformats.org/drawingml/2006/chart">
            <c:chart xmlns:c="http://schemas.openxmlformats.org/drawingml/2006/chart" r:id="rId1"/>
          </a:graphicData>
        </a:graphic>
      </p:graphicFrame>
      <p:sp>
        <p:nvSpPr>
          <p:cNvPr id="6" name="Text 2"/>
          <p:cNvSpPr/>
          <p:nvPr/>
        </p:nvSpPr>
        <p:spPr>
          <a:xfrm>
            <a:off x="5120640" y="914400"/>
            <a:ext cx="3657600" cy="3566160"/>
          </a:xfrm>
          <a:prstGeom prst="rect">
            <a:avLst/>
          </a:prstGeom>
          <a:noFill/>
          <a:ln/>
        </p:spPr>
        <p:txBody>
          <a:bodyPr wrap="square" rtlCol="0" anchor="t"/>
          <a:lstStyle/>
          <a:p>
            <a:pPr marL="342900" indent="-342900">
              <a:spcAft>
                <a:spcPts val="600"/>
              </a:spcAft>
              <a:buSzPct val="100000"/>
              <a:buChar char="•"/>
            </a:pPr>
            <a:r>
              <a:rPr lang="en-US" sz="1200" dirty="0">
                <a:solidFill>
                  <a:srgbClr val="222222"/>
                </a:solidFill>
                <a:latin typeface="Calibri" pitchFamily="34" charset="0"/>
                <a:ea typeface="Calibri" pitchFamily="34" charset="-122"/>
                <a:cs typeface="Calibri" pitchFamily="34" charset="-120"/>
              </a:rPr>
              <a:t>LightGBM: nonlinear distance x equipment x geography</a:t>
            </a:r>
            <a:endParaRPr lang="en-US" sz="1200" dirty="0"/>
          </a:p>
          <a:p>
            <a:pPr marL="342900" indent="-342900">
              <a:spcAft>
                <a:spcPts val="600"/>
              </a:spcAft>
              <a:buSzPct val="100000"/>
              <a:buChar char="•"/>
            </a:pPr>
            <a:r>
              <a:rPr lang="en-US" sz="1200" dirty="0">
                <a:solidFill>
                  <a:srgbClr val="222222"/>
                </a:solidFill>
                <a:latin typeface="Calibri" pitchFamily="34" charset="0"/>
                <a:ea typeface="Calibri" pitchFamily="34" charset="-122"/>
                <a:cs typeface="Calibri" pitchFamily="34" charset="-120"/>
              </a:rPr>
              <a:t>log(rate); L1 loss = median target</a:t>
            </a:r>
            <a:endParaRPr lang="en-US" sz="1200" dirty="0"/>
          </a:p>
          <a:p>
            <a:pPr marL="342900" indent="-342900">
              <a:spcAft>
                <a:spcPts val="600"/>
              </a:spcAft>
              <a:buSzPct val="100000"/>
              <a:buChar char="•"/>
            </a:pPr>
            <a:r>
              <a:rPr lang="en-US" sz="1200" dirty="0">
                <a:solidFill>
                  <a:srgbClr val="222222"/>
                </a:solidFill>
                <a:latin typeface="Calibri" pitchFamily="34" charset="0"/>
                <a:ea typeface="Calibri" pitchFamily="34" charset="-122"/>
                <a:cs typeface="Calibri" pitchFamily="34" charset="-120"/>
              </a:rPr>
              <a:t>Recency weights (45-day half-life)</a:t>
            </a:r>
            <a:endParaRPr lang="en-US" sz="1200" dirty="0"/>
          </a:p>
          <a:p>
            <a:pPr marL="342900" indent="-342900">
              <a:spcAft>
                <a:spcPts val="600"/>
              </a:spcAft>
              <a:buSzPct val="100000"/>
              <a:buChar char="•"/>
            </a:pPr>
            <a:r>
              <a:rPr lang="en-US" sz="1200" dirty="0">
                <a:solidFill>
                  <a:srgbClr val="222222"/>
                </a:solidFill>
                <a:latin typeface="Calibri" pitchFamily="34" charset="0"/>
                <a:ea typeface="Calibri" pitchFamily="34" charset="-122"/>
                <a:cs typeface="Calibri" pitchFamily="34" charset="-120"/>
              </a:rPr>
              <a:t>Linear daily-market term; regime-aware quote signal</a:t>
            </a:r>
            <a:endParaRPr lang="en-US" sz="1200" dirty="0"/>
          </a:p>
          <a:p>
            <a:pPr marL="342900" indent="-342900">
              <a:spcAft>
                <a:spcPts val="600"/>
              </a:spcAft>
              <a:buSzPct val="100000"/>
              <a:buChar char="•"/>
            </a:pPr>
            <a:r>
              <a:rPr lang="en-US" sz="1200" dirty="0">
                <a:solidFill>
                  <a:srgbClr val="222222"/>
                </a:solidFill>
                <a:latin typeface="Calibri" pitchFamily="34" charset="0"/>
                <a:ea typeface="Calibri" pitchFamily="34" charset="-122"/>
                <a:cs typeface="Calibri" pitchFamily="34" charset="-120"/>
              </a:rPr>
              <a:t>5-seed average (small gain, stability)</a:t>
            </a:r>
            <a:endParaRPr lang="en-US" sz="1200" dirty="0"/>
          </a:p>
          <a:p>
            <a:pPr marL="342900" indent="-342900">
              <a:spcAft>
                <a:spcPts val="600"/>
              </a:spcAft>
              <a:buSzPct val="100000"/>
              <a:buChar char="•"/>
            </a:pPr>
            <a:r>
              <a:rPr lang="en-US" sz="1200" dirty="0">
                <a:solidFill>
                  <a:srgbClr val="222222"/>
                </a:solidFill>
                <a:latin typeface="Calibri" pitchFamily="34" charset="0"/>
                <a:ea typeface="Calibri" pitchFamily="34" charset="-122"/>
                <a:cs typeface="Calibri" pitchFamily="34" charset="-120"/>
              </a:rPr>
              <a:t>Top features: ldist 48%, hav 13%, qs_signed 13%, dist 10%</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64A56"/>
          </a:solidFill>
          <a:ln w="12700">
            <a:solidFill>
              <a:srgbClr val="064A56"/>
            </a:solidFill>
            <a:prstDash val="solid"/>
          </a:ln>
        </p:spPr>
      </p:sp>
      <p:sp>
        <p:nvSpPr>
          <p:cNvPr id="3" name="Text 1"/>
          <p:cNvSpPr/>
          <p:nvPr/>
        </p:nvSpPr>
        <p:spPr>
          <a:xfrm>
            <a:off x="457200" y="182880"/>
            <a:ext cx="8229600" cy="548640"/>
          </a:xfrm>
          <a:prstGeom prst="rect">
            <a:avLst/>
          </a:prstGeom>
          <a:noFill/>
          <a:ln/>
        </p:spPr>
        <p:txBody>
          <a:bodyPr wrap="square" lIns="0" tIns="0" rIns="0" bIns="0" rtlCol="0" anchor="ctr"/>
          <a:lstStyle/>
          <a:p>
            <a:pPr indent="0" marL="0">
              <a:buNone/>
            </a:pPr>
            <a:r>
              <a:rPr lang="en-US" sz="2400" b="1" dirty="0">
                <a:solidFill>
                  <a:srgbClr val="064A56"/>
                </a:solidFill>
                <a:latin typeface="Calibri" pitchFamily="34" charset="0"/>
                <a:ea typeface="Calibri" pitchFamily="34" charset="-122"/>
                <a:cs typeface="Calibri" pitchFamily="34" charset="-120"/>
              </a:rPr>
              <a:t>Results and December forecast</a:t>
            </a:r>
            <a:endParaRPr lang="en-US" sz="2400" dirty="0"/>
          </a:p>
        </p:txBody>
      </p:sp>
      <p:pic>
        <p:nvPicPr>
          <p:cNvPr id="5" name="Image 0" descr="/mnt/user-data/outputs/freight-rate-prediction/outputs/figures/cv_by_fold.png">    </p:cNvPr>
          <p:cNvPicPr>
            <a:picLocks noChangeAspect="1"/>
          </p:cNvPicPr>
          <p:nvPr/>
        </p:nvPicPr>
        <p:blipFill>
          <a:blip r:embed="rId1"/>
          <a:stretch>
            <a:fillRect/>
          </a:stretch>
        </p:blipFill>
        <p:spPr>
          <a:xfrm>
            <a:off x="365760" y="868680"/>
            <a:ext cx="4206240" cy="1858571"/>
          </a:xfrm>
          <a:prstGeom prst="rect">
            <a:avLst/>
          </a:prstGeom>
        </p:spPr>
      </p:pic>
      <p:pic>
        <p:nvPicPr>
          <p:cNvPr id="6" name="Image 1" descr="/mnt/user-data/outputs/freight-rate-prediction/scorer_results/candidate_december.png">    </p:cNvPr>
          <p:cNvPicPr>
            <a:picLocks noChangeAspect="1"/>
          </p:cNvPicPr>
          <p:nvPr/>
        </p:nvPicPr>
        <p:blipFill>
          <a:blip r:embed="rId2"/>
          <a:stretch>
            <a:fillRect/>
          </a:stretch>
        </p:blipFill>
        <p:spPr>
          <a:xfrm>
            <a:off x="4663440" y="868680"/>
            <a:ext cx="4206240" cy="1369982"/>
          </a:xfrm>
          <a:prstGeom prst="rect">
            <a:avLst/>
          </a:prstGeom>
        </p:spPr>
      </p:pic>
      <p:sp>
        <p:nvSpPr>
          <p:cNvPr id="7" name="Text 2"/>
          <p:cNvSpPr/>
          <p:nvPr/>
        </p:nvSpPr>
        <p:spPr>
          <a:xfrm>
            <a:off x="457200" y="2880360"/>
            <a:ext cx="8229600" cy="2103120"/>
          </a:xfrm>
          <a:prstGeom prst="rect">
            <a:avLst/>
          </a:prstGeom>
          <a:noFill/>
          <a:ln/>
        </p:spPr>
        <p:txBody>
          <a:bodyPr wrap="square" rtlCol="0" anchor="t"/>
          <a:lstStyle/>
          <a:p>
            <a:pPr marL="342900" indent="-342900">
              <a:spcAft>
                <a:spcPts val="600"/>
              </a:spcAft>
              <a:buSzPct val="100000"/>
              <a:buChar char="•"/>
            </a:pPr>
            <a:r>
              <a:rPr lang="en-US" sz="1300" dirty="0">
                <a:solidFill>
                  <a:srgbClr val="222222"/>
                </a:solidFill>
                <a:latin typeface="Calibri" pitchFamily="34" charset="0"/>
                <a:ea typeface="Calibri" pitchFamily="34" charset="-122"/>
                <a:cs typeface="Calibri" pitchFamily="34" charset="-120"/>
              </a:rPr>
              <a:t>MAE $111; median error 1.72%; mean 4.73% (2.47% core); R2 0.83</a:t>
            </a:r>
            <a:endParaRPr lang="en-US" sz="1300" dirty="0"/>
          </a:p>
          <a:p>
            <a:pPr marL="342900" indent="-342900">
              <a:spcAft>
                <a:spcPts val="600"/>
              </a:spcAft>
              <a:buSzPct val="100000"/>
              <a:buChar char="•"/>
            </a:pPr>
            <a:r>
              <a:rPr lang="en-US" sz="1300" dirty="0">
                <a:solidFill>
                  <a:srgbClr val="222222"/>
                </a:solidFill>
                <a:latin typeface="Calibri" pitchFamily="34" charset="0"/>
                <a:ea typeface="Calibri" pitchFamily="34" charset="-122"/>
                <a:cs typeface="Calibri" pitchFamily="34" charset="-120"/>
              </a:rPr>
              <a:t>Latest fold: median 1.33%, MAE $92</a:t>
            </a:r>
            <a:endParaRPr lang="en-US" sz="1300" dirty="0"/>
          </a:p>
          <a:p>
            <a:pPr marL="342900" indent="-342900">
              <a:spcAft>
                <a:spcPts val="600"/>
              </a:spcAft>
              <a:buSzPct val="100000"/>
              <a:buChar char="•"/>
            </a:pPr>
            <a:r>
              <a:rPr lang="en-US" sz="1300" dirty="0">
                <a:solidFill>
                  <a:srgbClr val="222222"/>
                </a:solidFill>
                <a:latin typeface="Calibri" pitchFamily="34" charset="0"/>
                <a:ea typeface="Calibri" pitchFamily="34" charset="-122"/>
                <a:cs typeface="Calibri" pitchFamily="34" charset="-120"/>
              </a:rPr>
              <a:t>Weak spot: August median 5.60% vs 1.0–1.8% elsewhere (unseen regime)</a:t>
            </a:r>
            <a:endParaRPr lang="en-US" sz="1300" dirty="0"/>
          </a:p>
          <a:p>
            <a:pPr marL="342900" indent="-342900">
              <a:spcAft>
                <a:spcPts val="600"/>
              </a:spcAft>
              <a:buSzPct val="100000"/>
              <a:buChar char="•"/>
            </a:pPr>
            <a:r>
              <a:rPr lang="en-US" sz="1300" dirty="0">
                <a:solidFill>
                  <a:srgbClr val="222222"/>
                </a:solidFill>
                <a:latin typeface="Calibri" pitchFamily="34" charset="0"/>
                <a:ea typeface="Calibri" pitchFamily="34" charset="-122"/>
                <a:cs typeface="Calibri" pitchFamily="34" charset="-120"/>
              </a:rPr>
              <a:t>December: $817-$829, a model estimate: typical error ±1.6%, up to ~±$83 in an August-like regime; no holiday information</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64A56"/>
          </a:solidFill>
          <a:ln w="12700">
            <a:solidFill>
              <a:srgbClr val="064A56"/>
            </a:solidFill>
            <a:prstDash val="solid"/>
          </a:ln>
        </p:spPr>
      </p:sp>
      <p:sp>
        <p:nvSpPr>
          <p:cNvPr id="3" name="Text 1"/>
          <p:cNvSpPr/>
          <p:nvPr/>
        </p:nvSpPr>
        <p:spPr>
          <a:xfrm>
            <a:off x="457200" y="182880"/>
            <a:ext cx="8229600" cy="548640"/>
          </a:xfrm>
          <a:prstGeom prst="rect">
            <a:avLst/>
          </a:prstGeom>
          <a:noFill/>
          <a:ln/>
        </p:spPr>
        <p:txBody>
          <a:bodyPr wrap="square" lIns="0" tIns="0" rIns="0" bIns="0" rtlCol="0" anchor="ctr"/>
          <a:lstStyle/>
          <a:p>
            <a:pPr indent="0" marL="0">
              <a:buNone/>
            </a:pPr>
            <a:r>
              <a:rPr lang="en-US" sz="2400" b="1" dirty="0">
                <a:solidFill>
                  <a:srgbClr val="064A56"/>
                </a:solidFill>
                <a:latin typeface="Calibri" pitchFamily="34" charset="0"/>
                <a:ea typeface="Calibri" pitchFamily="34" charset="-122"/>
                <a:cs typeface="Calibri" pitchFamily="34" charset="-120"/>
              </a:rPr>
              <a:t>Code walkthrough: the parts that matter</a:t>
            </a:r>
            <a:endParaRPr lang="en-US" sz="2400" dirty="0"/>
          </a:p>
        </p:txBody>
      </p:sp>
      <p:sp>
        <p:nvSpPr>
          <p:cNvPr id="5" name="Text 2"/>
          <p:cNvSpPr/>
          <p:nvPr/>
        </p:nvSpPr>
        <p:spPr>
          <a:xfrm>
            <a:off x="365760" y="822960"/>
            <a:ext cx="4114800" cy="274320"/>
          </a:xfrm>
          <a:prstGeom prst="rect">
            <a:avLst/>
          </a:prstGeom>
          <a:noFill/>
          <a:ln/>
        </p:spPr>
        <p:txBody>
          <a:bodyPr wrap="square" lIns="0" tIns="0" rIns="0" bIns="0" rtlCol="0" anchor="ctr"/>
          <a:lstStyle/>
          <a:p>
            <a:pPr indent="0" marL="0">
              <a:buNone/>
            </a:pPr>
            <a:r>
              <a:rPr lang="en-US" sz="1200" b="1" dirty="0">
                <a:solidFill>
                  <a:srgbClr val="064A56"/>
                </a:solidFill>
                <a:latin typeface="Calibri" pitchFamily="34" charset="0"/>
                <a:ea typeface="Calibri" pitchFamily="34" charset="-122"/>
                <a:cs typeface="Calibri" pitchFamily="34" charset="-120"/>
              </a:rPr>
              <a:t>features.py: regime-aware signal</a:t>
            </a:r>
            <a:endParaRPr lang="en-US" sz="1200" dirty="0"/>
          </a:p>
        </p:txBody>
      </p:sp>
      <p:sp>
        <p:nvSpPr>
          <p:cNvPr id="6" name="Text 3"/>
          <p:cNvSpPr/>
          <p:nvPr/>
        </p:nvSpPr>
        <p:spPr>
          <a:xfrm>
            <a:off x="365760" y="1097280"/>
            <a:ext cx="4114800" cy="1051560"/>
          </a:xfrm>
          <a:prstGeom prst="rect">
            <a:avLst/>
          </a:prstGeom>
          <a:solidFill>
            <a:srgbClr val="F3F7F8"/>
          </a:solidFill>
          <a:ln/>
        </p:spPr>
        <p:txBody>
          <a:bodyPr wrap="square" lIns="101600" tIns="101600" rIns="101600" bIns="101600" rtlCol="0" anchor="t"/>
          <a:lstStyle/>
          <a:p>
            <a:pPr indent="0" marL="0">
              <a:buNone/>
            </a:pPr>
            <a:r>
              <a:rPr lang="en-US" sz="950" dirty="0">
                <a:solidFill>
                  <a:srgbClr val="1F2D30"/>
                </a:solidFill>
                <a:latin typeface="Consolas" pitchFamily="34" charset="0"/>
                <a:ea typeface="Consolas" pitchFamily="34" charset="-122"/>
                <a:cs typeface="Consolas" pitchFamily="34" charset="-120"/>
              </a:rPr>
              <a:t>sign = month -&gt; +1 / -1 / 0 from skew of quote_signal</a:t>
            </a:r>
            <a:endParaRPr lang="en-US" sz="950" dirty="0"/>
          </a:p>
          <a:p>
            <a:pPr indent="0" marL="0">
              <a:buNone/>
            </a:pPr>
            <a:r>
              <a:rPr lang="en-US" sz="950" dirty="0">
                <a:solidFill>
                  <a:srgbClr val="1F2D30"/>
                </a:solidFill>
                <a:latin typeface="Consolas" pitchFamily="34" charset="0"/>
                <a:ea typeface="Consolas" pitchFamily="34" charset="-122"/>
                <a:cs typeface="Consolas" pitchFamily="34" charset="-120"/>
              </a:rPr>
              <a:t>X["qs_signed"] = where(sign == 0, 0,</a:t>
            </a:r>
            <a:endParaRPr lang="en-US" sz="950" dirty="0"/>
          </a:p>
          <a:p>
            <a:pPr indent="0" marL="0">
              <a:buNone/>
            </a:pPr>
            <a:r>
              <a:rPr lang="en-US" sz="950" dirty="0">
                <a:solidFill>
                  <a:srgbClr val="1F2D30"/>
                </a:solidFill>
                <a:latin typeface="Consolas" pitchFamily="34" charset="0"/>
                <a:ea typeface="Consolas" pitchFamily="34" charset="-122"/>
                <a:cs typeface="Consolas" pitchFamily="34" charset="-120"/>
              </a:rPr>
              <a:t>                       (qs - 2.05) * sign)</a:t>
            </a:r>
            <a:endParaRPr lang="en-US" sz="950" dirty="0"/>
          </a:p>
          <a:p>
            <a:pPr indent="0" marL="0">
              <a:buNone/>
            </a:pPr>
            <a:r>
              <a:rPr lang="en-US" sz="950" dirty="0">
                <a:solidFill>
                  <a:srgbClr val="1F2D30"/>
                </a:solidFill>
                <a:latin typeface="Consolas" pitchFamily="34" charset="0"/>
                <a:ea typeface="Consolas" pitchFamily="34" charset="-122"/>
                <a:cs typeface="Consolas" pitchFamily="34" charset="-120"/>
              </a:rPr>
              <a:t>day["dm_dev"] = dm - monthly mean of dm</a:t>
            </a:r>
            <a:endParaRPr lang="en-US" sz="950" dirty="0"/>
          </a:p>
        </p:txBody>
      </p:sp>
      <p:sp>
        <p:nvSpPr>
          <p:cNvPr id="7" name="Text 4"/>
          <p:cNvSpPr/>
          <p:nvPr/>
        </p:nvSpPr>
        <p:spPr>
          <a:xfrm>
            <a:off x="4663440" y="822960"/>
            <a:ext cx="4114800" cy="274320"/>
          </a:xfrm>
          <a:prstGeom prst="rect">
            <a:avLst/>
          </a:prstGeom>
          <a:noFill/>
          <a:ln/>
        </p:spPr>
        <p:txBody>
          <a:bodyPr wrap="square" lIns="0" tIns="0" rIns="0" bIns="0" rtlCol="0" anchor="ctr"/>
          <a:lstStyle/>
          <a:p>
            <a:pPr indent="0" marL="0">
              <a:buNone/>
            </a:pPr>
            <a:r>
              <a:rPr lang="en-US" sz="1200" b="1" dirty="0">
                <a:solidFill>
                  <a:srgbClr val="064A56"/>
                </a:solidFill>
                <a:latin typeface="Calibri" pitchFamily="34" charset="0"/>
                <a:ea typeface="Calibri" pitchFamily="34" charset="-122"/>
                <a:cs typeface="Calibri" pitchFamily="34" charset="-120"/>
              </a:rPr>
              <a:t>model.py: L1 on log-rate, recency weights</a:t>
            </a:r>
            <a:endParaRPr lang="en-US" sz="1200" dirty="0"/>
          </a:p>
        </p:txBody>
      </p:sp>
      <p:sp>
        <p:nvSpPr>
          <p:cNvPr id="8" name="Text 5"/>
          <p:cNvSpPr/>
          <p:nvPr/>
        </p:nvSpPr>
        <p:spPr>
          <a:xfrm>
            <a:off x="4663440" y="1097280"/>
            <a:ext cx="4114800" cy="1051560"/>
          </a:xfrm>
          <a:prstGeom prst="rect">
            <a:avLst/>
          </a:prstGeom>
          <a:solidFill>
            <a:srgbClr val="F3F7F8"/>
          </a:solidFill>
          <a:ln/>
        </p:spPr>
        <p:txBody>
          <a:bodyPr wrap="square" lIns="101600" tIns="101600" rIns="101600" bIns="101600" rtlCol="0" anchor="t"/>
          <a:lstStyle/>
          <a:p>
            <a:pPr indent="0" marL="0">
              <a:buNone/>
            </a:pPr>
            <a:r>
              <a:rPr lang="en-US" sz="950" dirty="0">
                <a:solidFill>
                  <a:srgbClr val="1F2D30"/>
                </a:solidFill>
                <a:latin typeface="Consolas" pitchFamily="34" charset="0"/>
                <a:ea typeface="Consolas" pitchFamily="34" charset="-122"/>
                <a:cs typeface="Consolas" pitchFamily="34" charset="-120"/>
              </a:rPr>
              <a:t>w = 0.5 ** (age_days / 45)</a:t>
            </a:r>
            <a:endParaRPr lang="en-US" sz="950" dirty="0"/>
          </a:p>
          <a:p>
            <a:pPr indent="0" marL="0">
              <a:buNone/>
            </a:pPr>
            <a:r>
              <a:rPr lang="en-US" sz="950" dirty="0">
                <a:solidFill>
                  <a:srgbClr val="1F2D30"/>
                </a:solidFill>
                <a:latin typeface="Consolas" pitchFamily="34" charset="0"/>
                <a:ea typeface="Consolas" pitchFamily="34" charset="-122"/>
                <a:cs typeface="Consolas" pitchFamily="34" charset="-120"/>
              </a:rPr>
              <a:t>LGBMRegressor(objective="l1").fit(X, log(rate), w)</a:t>
            </a:r>
            <a:endParaRPr lang="en-US" sz="950" dirty="0"/>
          </a:p>
          <a:p>
            <a:pPr indent="0" marL="0">
              <a:buNone/>
            </a:pPr>
            <a:r>
              <a:rPr lang="en-US" sz="950" dirty="0">
                <a:solidFill>
                  <a:srgbClr val="1F2D30"/>
                </a:solidFill>
                <a:latin typeface="Consolas" pitchFamily="34" charset="0"/>
                <a:ea typeface="Consolas" pitchFamily="34" charset="-122"/>
                <a:cs typeface="Consolas" pitchFamily="34" charset="-120"/>
              </a:rPr>
              <a:t>pred = exp(base + slope * dm_dev)</a:t>
            </a:r>
            <a:endParaRPr lang="en-US" sz="950" dirty="0"/>
          </a:p>
        </p:txBody>
      </p:sp>
      <p:sp>
        <p:nvSpPr>
          <p:cNvPr id="9" name="Text 6"/>
          <p:cNvSpPr/>
          <p:nvPr/>
        </p:nvSpPr>
        <p:spPr>
          <a:xfrm>
            <a:off x="365760" y="2331720"/>
            <a:ext cx="4114800" cy="274320"/>
          </a:xfrm>
          <a:prstGeom prst="rect">
            <a:avLst/>
          </a:prstGeom>
          <a:noFill/>
          <a:ln/>
        </p:spPr>
        <p:txBody>
          <a:bodyPr wrap="square" lIns="0" tIns="0" rIns="0" bIns="0" rtlCol="0" anchor="ctr"/>
          <a:lstStyle/>
          <a:p>
            <a:pPr indent="0" marL="0">
              <a:buNone/>
            </a:pPr>
            <a:r>
              <a:rPr lang="en-US" sz="1200" b="1" dirty="0">
                <a:solidFill>
                  <a:srgbClr val="064A56"/>
                </a:solidFill>
                <a:latin typeface="Calibri" pitchFamily="34" charset="0"/>
                <a:ea typeface="Calibri" pitchFamily="34" charset="-122"/>
                <a:cs typeface="Calibri" pitchFamily="34" charset="-120"/>
              </a:rPr>
              <a:t>validation.py: forward chaining</a:t>
            </a:r>
            <a:endParaRPr lang="en-US" sz="1200" dirty="0"/>
          </a:p>
        </p:txBody>
      </p:sp>
      <p:sp>
        <p:nvSpPr>
          <p:cNvPr id="10" name="Text 7"/>
          <p:cNvSpPr/>
          <p:nvPr/>
        </p:nvSpPr>
        <p:spPr>
          <a:xfrm>
            <a:off x="365760" y="2606040"/>
            <a:ext cx="4114800" cy="1051560"/>
          </a:xfrm>
          <a:prstGeom prst="rect">
            <a:avLst/>
          </a:prstGeom>
          <a:solidFill>
            <a:srgbClr val="F3F7F8"/>
          </a:solidFill>
          <a:ln/>
        </p:spPr>
        <p:txBody>
          <a:bodyPr wrap="square" lIns="101600" tIns="101600" rIns="101600" bIns="101600" rtlCol="0" anchor="t"/>
          <a:lstStyle/>
          <a:p>
            <a:pPr indent="0" marL="0">
              <a:buNone/>
            </a:pPr>
            <a:r>
              <a:rPr lang="en-US" sz="950" dirty="0">
                <a:solidFill>
                  <a:srgbClr val="1F2D30"/>
                </a:solidFill>
                <a:latin typeface="Consolas" pitchFamily="34" charset="0"/>
                <a:ea typeface="Consolas" pitchFamily="34" charset="-122"/>
                <a:cs typeface="Consolas" pitchFamily="34" charset="-120"/>
              </a:rPr>
              <a:t>for s, e in FOLDS:</a:t>
            </a:r>
            <a:endParaRPr lang="en-US" sz="950" dirty="0"/>
          </a:p>
          <a:p>
            <a:pPr indent="0" marL="0">
              <a:buNone/>
            </a:pPr>
            <a:r>
              <a:rPr lang="en-US" sz="950" dirty="0">
                <a:solidFill>
                  <a:srgbClr val="1F2D30"/>
                </a:solidFill>
                <a:latin typeface="Consolas" pitchFamily="34" charset="0"/>
                <a:ea typeface="Consolas" pitchFamily="34" charset="-122"/>
                <a:cs typeface="Consolas" pitchFamily="34" charset="-120"/>
              </a:rPr>
              <a:t>    train = dates &lt; s</a:t>
            </a:r>
            <a:endParaRPr lang="en-US" sz="950" dirty="0"/>
          </a:p>
          <a:p>
            <a:pPr indent="0" marL="0">
              <a:buNone/>
            </a:pPr>
            <a:r>
              <a:rPr lang="en-US" sz="950" dirty="0">
                <a:solidFill>
                  <a:srgbClr val="1F2D30"/>
                </a:solidFill>
                <a:latin typeface="Consolas" pitchFamily="34" charset="0"/>
                <a:ea typeface="Consolas" pitchFamily="34" charset="-122"/>
                <a:cs typeface="Consolas" pitchFamily="34" charset="-120"/>
              </a:rPr>
              <a:t>    val = (dates &gt;= s) &amp; (dates &lt; e)</a:t>
            </a:r>
            <a:endParaRPr lang="en-US" sz="950" dirty="0"/>
          </a:p>
          <a:p>
            <a:pPr indent="0" marL="0">
              <a:buNone/>
            </a:pPr>
            <a:r>
              <a:rPr lang="en-US" sz="950" dirty="0">
                <a:solidFill>
                  <a:srgbClr val="1F2D30"/>
                </a:solidFill>
                <a:latin typeface="Consolas" pitchFamily="34" charset="0"/>
                <a:ea typeface="Consolas" pitchFamily="34" charset="-122"/>
                <a:cs typeface="Consolas" pitchFamily="34" charset="-120"/>
              </a:rPr>
              <a:t>    fit on train only; score on val</a:t>
            </a:r>
            <a:endParaRPr lang="en-US" sz="950" dirty="0"/>
          </a:p>
        </p:txBody>
      </p:sp>
      <p:sp>
        <p:nvSpPr>
          <p:cNvPr id="11" name="Text 8"/>
          <p:cNvSpPr/>
          <p:nvPr/>
        </p:nvSpPr>
        <p:spPr>
          <a:xfrm>
            <a:off x="4663440" y="2331720"/>
            <a:ext cx="4114800" cy="274320"/>
          </a:xfrm>
          <a:prstGeom prst="rect">
            <a:avLst/>
          </a:prstGeom>
          <a:noFill/>
          <a:ln/>
        </p:spPr>
        <p:txBody>
          <a:bodyPr wrap="square" lIns="0" tIns="0" rIns="0" bIns="0" rtlCol="0" anchor="ctr"/>
          <a:lstStyle/>
          <a:p>
            <a:pPr indent="0" marL="0">
              <a:buNone/>
            </a:pPr>
            <a:r>
              <a:rPr lang="en-US" sz="1200" b="1" dirty="0">
                <a:solidFill>
                  <a:srgbClr val="064A56"/>
                </a:solidFill>
                <a:latin typeface="Calibri" pitchFamily="34" charset="0"/>
                <a:ea typeface="Calibri" pitchFamily="34" charset="-122"/>
                <a:cs typeface="Calibri" pitchFamily="34" charset="-120"/>
              </a:rPr>
              <a:t>Run it</a:t>
            </a:r>
            <a:endParaRPr lang="en-US" sz="1200" dirty="0"/>
          </a:p>
        </p:txBody>
      </p:sp>
      <p:sp>
        <p:nvSpPr>
          <p:cNvPr id="12" name="Text 9"/>
          <p:cNvSpPr/>
          <p:nvPr/>
        </p:nvSpPr>
        <p:spPr>
          <a:xfrm>
            <a:off x="4663440" y="2606040"/>
            <a:ext cx="4114800" cy="1051560"/>
          </a:xfrm>
          <a:prstGeom prst="rect">
            <a:avLst/>
          </a:prstGeom>
          <a:solidFill>
            <a:srgbClr val="F3F7F8"/>
          </a:solidFill>
          <a:ln/>
        </p:spPr>
        <p:txBody>
          <a:bodyPr wrap="square" lIns="101600" tIns="101600" rIns="101600" bIns="101600" rtlCol="0" anchor="t"/>
          <a:lstStyle/>
          <a:p>
            <a:pPr indent="0" marL="0">
              <a:buNone/>
            </a:pPr>
            <a:r>
              <a:rPr lang="en-US" sz="950" dirty="0">
                <a:solidFill>
                  <a:srgbClr val="1F2D30"/>
                </a:solidFill>
                <a:latin typeface="Consolas" pitchFamily="34" charset="0"/>
                <a:ea typeface="Consolas" pitchFamily="34" charset="-122"/>
                <a:cs typeface="Consolas" pitchFamily="34" charset="-120"/>
              </a:rPr>
              <a:t>python run_pipeline.py</a:t>
            </a:r>
            <a:endParaRPr lang="en-US" sz="950" dirty="0"/>
          </a:p>
          <a:p>
            <a:pPr indent="0" marL="0">
              <a:buNone/>
            </a:pPr>
            <a:r>
              <a:rPr lang="en-US" sz="950" dirty="0">
                <a:solidFill>
                  <a:srgbClr val="1F2D30"/>
                </a:solidFill>
                <a:latin typeface="Consolas" pitchFamily="34" charset="0"/>
                <a:ea typeface="Consolas" pitchFamily="34" charset="-122"/>
                <a:cs typeface="Consolas" pitchFamily="34" charset="-120"/>
              </a:rPr>
              <a:t>python score.py --predictions validation_predictions.csv \</a:t>
            </a:r>
            <a:endParaRPr lang="en-US" sz="950" dirty="0"/>
          </a:p>
          <a:p>
            <a:pPr indent="0" marL="0">
              <a:buNone/>
            </a:pPr>
            <a:r>
              <a:rPr lang="en-US" sz="950" dirty="0">
                <a:solidFill>
                  <a:srgbClr val="1F2D30"/>
                </a:solidFill>
                <a:latin typeface="Consolas" pitchFamily="34" charset="0"/>
                <a:ea typeface="Consolas" pitchFamily="34" charset="-122"/>
                <a:cs typeface="Consolas" pitchFamily="34" charset="-120"/>
              </a:rPr>
              <a:t>  --december-predictions december_chart_inputs.csv</a:t>
            </a:r>
            <a:endParaRPr lang="en-US" sz="950" dirty="0"/>
          </a:p>
          <a:p>
            <a:pPr indent="0" marL="0">
              <a:buNone/>
            </a:pPr>
            <a:r>
              <a:rPr lang="en-US" sz="950" dirty="0">
                <a:solidFill>
                  <a:srgbClr val="1F2D30"/>
                </a:solidFill>
                <a:latin typeface="Consolas" pitchFamily="34" charset="0"/>
                <a:ea typeface="Consolas" pitchFamily="34" charset="-122"/>
                <a:cs typeface="Consolas" pitchFamily="34" charset="-120"/>
              </a:rPr>
              <a:t>python tests/check_outputs.py</a:t>
            </a:r>
            <a:endParaRPr lang="en-US" sz="950" dirty="0"/>
          </a:p>
        </p:txBody>
      </p:sp>
      <p:sp>
        <p:nvSpPr>
          <p:cNvPr id="13" name="Text 10"/>
          <p:cNvSpPr/>
          <p:nvPr/>
        </p:nvSpPr>
        <p:spPr>
          <a:xfrm>
            <a:off x="365760" y="3840480"/>
            <a:ext cx="8412480" cy="365760"/>
          </a:xfrm>
          <a:prstGeom prst="rect">
            <a:avLst/>
          </a:prstGeom>
          <a:noFill/>
          <a:ln/>
        </p:spPr>
        <p:txBody>
          <a:bodyPr wrap="square" lIns="0" tIns="0" rIns="0" bIns="0" rtlCol="0" anchor="ctr"/>
          <a:lstStyle/>
          <a:p>
            <a:pPr indent="0" marL="0">
              <a:buNone/>
            </a:pPr>
            <a:r>
              <a:rPr lang="en-US" sz="1200" dirty="0">
                <a:solidFill>
                  <a:srgbClr val="5B6B70"/>
                </a:solidFill>
                <a:latin typeface="Calibri" pitchFamily="34" charset="0"/>
                <a:ea typeface="Calibri" pitchFamily="34" charset="-122"/>
                <a:cs typeface="Calibri" pitchFamily="34" charset="-120"/>
              </a:rPr>
              <a:t>src/freight_rate/{data,features,model,validation}.py | run_pipeline.py | eda.py | scripts/ | tests/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64A56"/>
          </a:solidFill>
          <a:ln w="12700">
            <a:solidFill>
              <a:srgbClr val="064A56"/>
            </a:solidFill>
            <a:prstDash val="solid"/>
          </a:ln>
        </p:spPr>
      </p:sp>
      <p:sp>
        <p:nvSpPr>
          <p:cNvPr id="3" name="Text 1"/>
          <p:cNvSpPr/>
          <p:nvPr/>
        </p:nvSpPr>
        <p:spPr>
          <a:xfrm>
            <a:off x="457200" y="182880"/>
            <a:ext cx="8229600" cy="548640"/>
          </a:xfrm>
          <a:prstGeom prst="rect">
            <a:avLst/>
          </a:prstGeom>
          <a:noFill/>
          <a:ln/>
        </p:spPr>
        <p:txBody>
          <a:bodyPr wrap="square" lIns="0" tIns="0" rIns="0" bIns="0" rtlCol="0" anchor="ctr"/>
          <a:lstStyle/>
          <a:p>
            <a:pPr indent="0" marL="0">
              <a:buNone/>
            </a:pPr>
            <a:r>
              <a:rPr lang="en-US" sz="2400" b="1" dirty="0">
                <a:solidFill>
                  <a:srgbClr val="064A56"/>
                </a:solidFill>
                <a:latin typeface="Calibri" pitchFamily="34" charset="0"/>
                <a:ea typeface="Calibri" pitchFamily="34" charset="-122"/>
                <a:cs typeface="Calibri" pitchFamily="34" charset="-120"/>
              </a:rPr>
              <a:t>Risks and next steps</a:t>
            </a:r>
            <a:endParaRPr lang="en-US" sz="2400" dirty="0"/>
          </a:p>
        </p:txBody>
      </p:sp>
      <p:sp>
        <p:nvSpPr>
          <p:cNvPr id="5" name="Text 2"/>
          <p:cNvSpPr/>
          <p:nvPr/>
        </p:nvSpPr>
        <p:spPr>
          <a:xfrm>
            <a:off x="457200" y="914400"/>
            <a:ext cx="8229600" cy="3474720"/>
          </a:xfrm>
          <a:prstGeom prst="rect">
            <a:avLst/>
          </a:prstGeom>
          <a:noFill/>
          <a:ln/>
        </p:spPr>
        <p:txBody>
          <a:bodyPr wrap="square" rtlCol="0" anchor="t"/>
          <a:lstStyle/>
          <a:p>
            <a:pPr marL="342900" indent="-342900">
              <a:spcAft>
                <a:spcPts val="600"/>
              </a:spcAft>
              <a:buSzPct val="100000"/>
              <a:buChar char="•"/>
            </a:pPr>
            <a:r>
              <a:rPr lang="en-US" sz="1500" dirty="0">
                <a:solidFill>
                  <a:srgbClr val="222222"/>
                </a:solidFill>
                <a:latin typeface="Calibri" pitchFamily="34" charset="0"/>
                <a:ea typeface="Calibri" pitchFamily="34" charset="-122"/>
                <a:cs typeface="Calibri" pitchFamily="34" charset="-120"/>
              </a:rPr>
              <a:t>December level is extrapolated from recent months; holiday effects are not captured</a:t>
            </a:r>
            <a:endParaRPr lang="en-US" sz="1500" dirty="0"/>
          </a:p>
          <a:p>
            <a:pPr marL="342900" indent="-342900">
              <a:spcAft>
                <a:spcPts val="600"/>
              </a:spcAft>
              <a:buSzPct val="100000"/>
              <a:buChar char="•"/>
            </a:pPr>
            <a:r>
              <a:rPr lang="en-US" sz="1500" dirty="0">
                <a:solidFill>
                  <a:srgbClr val="222222"/>
                </a:solidFill>
                <a:latin typeface="Calibri" pitchFamily="34" charset="0"/>
                <a:ea typeface="Calibri" pitchFamily="34" charset="-122"/>
                <a:cs typeface="Calibri" pitchFamily="34" charset="-120"/>
              </a:rPr>
              <a:t>Only one noise-regime month in the labels: regime-aware gain is supported, not proven, for Nov-Dec</a:t>
            </a:r>
            <a:endParaRPr lang="en-US" sz="1500" dirty="0"/>
          </a:p>
          <a:p>
            <a:pPr marL="342900" indent="-342900">
              <a:spcAft>
                <a:spcPts val="600"/>
              </a:spcAft>
              <a:buSzPct val="100000"/>
              <a:buChar char="•"/>
            </a:pPr>
            <a:r>
              <a:rPr lang="en-US" sz="1500" dirty="0">
                <a:solidFill>
                  <a:srgbClr val="222222"/>
                </a:solidFill>
                <a:latin typeface="Calibri" pitchFamily="34" charset="0"/>
                <a:ea typeface="Calibri" pitchFamily="34" charset="-122"/>
                <a:cs typeface="Calibri" pitchFamily="34" charset="-120"/>
              </a:rPr>
              <a:t>Daily market and regime features assume the whole file is available; a strictly causal version costs little (median 1.77% vs 1.76%)</a:t>
            </a:r>
            <a:endParaRPr lang="en-US" sz="1500" dirty="0"/>
          </a:p>
          <a:p>
            <a:pPr marL="342900" indent="-342900">
              <a:spcAft>
                <a:spcPts val="600"/>
              </a:spcAft>
              <a:buSzPct val="100000"/>
              <a:buChar char="•"/>
            </a:pPr>
            <a:r>
              <a:rPr lang="en-US" sz="1500" dirty="0">
                <a:solidFill>
                  <a:srgbClr val="222222"/>
                </a:solidFill>
                <a:latin typeface="Calibri" pitchFamily="34" charset="0"/>
                <a:ea typeface="Calibri" pitchFamily="34" charset="-122"/>
                <a:cs typeface="Calibri" pitchFamily="34" charset="-120"/>
              </a:rPr>
              <a:t>~1.4% corrupted labels put a floor on mean % error</a:t>
            </a:r>
            <a:endParaRPr lang="en-US" sz="1500" dirty="0"/>
          </a:p>
          <a:p>
            <a:pPr marL="342900" indent="-342900">
              <a:spcAft>
                <a:spcPts val="600"/>
              </a:spcAft>
              <a:buSzPct val="100000"/>
              <a:buChar char="•"/>
            </a:pPr>
            <a:r>
              <a:rPr lang="en-US" sz="1500" dirty="0">
                <a:solidFill>
                  <a:srgbClr val="222222"/>
                </a:solidFill>
                <a:latin typeface="Calibri" pitchFamily="34" charset="0"/>
                <a:ea typeface="Calibri" pitchFamily="34" charset="-122"/>
                <a:cs typeface="Calibri" pitchFamily="34" charset="-120"/>
              </a:rPr>
              <a:t>Verified: full from-scratch run in a new virtualenv reproduced every output identically</a:t>
            </a:r>
            <a:endParaRPr lang="en-US" sz="1500" dirty="0"/>
          </a:p>
          <a:p>
            <a:pPr marL="342900" indent="-342900">
              <a:spcAft>
                <a:spcPts val="600"/>
              </a:spcAft>
              <a:buSzPct val="100000"/>
              <a:buChar char="•"/>
            </a:pPr>
            <a:r>
              <a:rPr lang="en-US" sz="1500" dirty="0">
                <a:solidFill>
                  <a:srgbClr val="222222"/>
                </a:solidFill>
                <a:latin typeface="Calibri" pitchFamily="34" charset="0"/>
                <a:ea typeface="Calibri" pitchFamily="34" charset="-122"/>
                <a:cs typeface="Calibri" pitchFamily="34" charset="-120"/>
              </a:rPr>
              <a:t>Next: refit as new months arrive and monitor the quote_signal regime</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64A56"/>
          </a:solidFill>
          <a:ln w="12700">
            <a:solidFill>
              <a:srgbClr val="064A56"/>
            </a:solidFill>
            <a:prstDash val="solid"/>
          </a:ln>
        </p:spPr>
      </p:sp>
      <p:sp>
        <p:nvSpPr>
          <p:cNvPr id="3" name="Text 1"/>
          <p:cNvSpPr/>
          <p:nvPr/>
        </p:nvSpPr>
        <p:spPr>
          <a:xfrm>
            <a:off x="457200" y="182880"/>
            <a:ext cx="8229600" cy="548640"/>
          </a:xfrm>
          <a:prstGeom prst="rect">
            <a:avLst/>
          </a:prstGeom>
          <a:noFill/>
          <a:ln/>
        </p:spPr>
        <p:txBody>
          <a:bodyPr wrap="square" lIns="0" tIns="0" rIns="0" bIns="0" rtlCol="0" anchor="ctr"/>
          <a:lstStyle/>
          <a:p>
            <a:pPr indent="0" marL="0">
              <a:buNone/>
            </a:pPr>
            <a:r>
              <a:rPr lang="en-US" sz="2400" b="1" dirty="0">
                <a:solidFill>
                  <a:srgbClr val="064A56"/>
                </a:solidFill>
                <a:latin typeface="Calibri" pitchFamily="34" charset="0"/>
                <a:ea typeface="Calibri" pitchFamily="34" charset="-122"/>
                <a:cs typeface="Calibri" pitchFamily="34" charset="-120"/>
              </a:rPr>
              <a:t>Recording checklist (2-3 minutes)</a:t>
            </a:r>
            <a:endParaRPr lang="en-US" sz="2400" dirty="0"/>
          </a:p>
        </p:txBody>
      </p:sp>
      <p:sp>
        <p:nvSpPr>
          <p:cNvPr id="5" name="Text 2"/>
          <p:cNvSpPr/>
          <p:nvPr/>
        </p:nvSpPr>
        <p:spPr>
          <a:xfrm>
            <a:off x="457200" y="914400"/>
            <a:ext cx="8229600" cy="3474720"/>
          </a:xfrm>
          <a:prstGeom prst="rect">
            <a:avLst/>
          </a:prstGeom>
          <a:noFill/>
          <a:ln/>
        </p:spPr>
        <p:txBody>
          <a:bodyPr wrap="square" rtlCol="0" anchor="t"/>
          <a:lstStyle/>
          <a:p>
            <a:pPr marL="342900" indent="-342900">
              <a:spcAft>
                <a:spcPts val="600"/>
              </a:spcAft>
              <a:buSzPct val="100000"/>
              <a:buChar char="•"/>
            </a:pPr>
            <a:r>
              <a:rPr lang="en-US" sz="1500" dirty="0">
                <a:solidFill>
                  <a:srgbClr val="222222"/>
                </a:solidFill>
                <a:latin typeface="Calibri" pitchFamily="34" charset="0"/>
                <a:ea typeface="Calibri" pitchFamily="34" charset="-122"/>
                <a:cs typeface="Calibri" pitchFamily="34" charset="-120"/>
              </a:rPr>
              <a:t>0:00 Findings (slide 2) and data quality with the three examples (slide 3)</a:t>
            </a:r>
            <a:endParaRPr lang="en-US" sz="1500" dirty="0"/>
          </a:p>
          <a:p>
            <a:pPr marL="342900" indent="-342900">
              <a:spcAft>
                <a:spcPts val="600"/>
              </a:spcAft>
              <a:buSzPct val="100000"/>
              <a:buChar char="•"/>
            </a:pPr>
            <a:r>
              <a:rPr lang="en-US" sz="1500" dirty="0">
                <a:solidFill>
                  <a:srgbClr val="222222"/>
                </a:solidFill>
                <a:latin typeface="Calibri" pitchFamily="34" charset="0"/>
                <a:ea typeface="Calibri" pitchFamily="34" charset="-122"/>
                <a:cs typeface="Calibri" pitchFamily="34" charset="-120"/>
              </a:rPr>
              <a:t>0:50 quote_signal regime and why (slide 4), model reasoning (slide 6)</a:t>
            </a:r>
            <a:endParaRPr lang="en-US" sz="1500" dirty="0"/>
          </a:p>
          <a:p>
            <a:pPr marL="342900" indent="-342900">
              <a:spcAft>
                <a:spcPts val="600"/>
              </a:spcAft>
              <a:buSzPct val="100000"/>
              <a:buChar char="•"/>
            </a:pPr>
            <a:r>
              <a:rPr lang="en-US" sz="1500" dirty="0">
                <a:solidFill>
                  <a:srgbClr val="222222"/>
                </a:solidFill>
                <a:latin typeface="Calibri" pitchFamily="34" charset="0"/>
                <a:ea typeface="Calibri" pitchFamily="34" charset="-122"/>
                <a:cs typeface="Calibri" pitchFamily="34" charset="-120"/>
              </a:rPr>
              <a:t>1:30 Split and leakage demo (slide 5); results and December chart (slide 7)</a:t>
            </a:r>
            <a:endParaRPr lang="en-US" sz="1500" dirty="0"/>
          </a:p>
          <a:p>
            <a:pPr marL="342900" indent="-342900">
              <a:spcAft>
                <a:spcPts val="600"/>
              </a:spcAft>
              <a:buSzPct val="100000"/>
              <a:buChar char="•"/>
            </a:pPr>
            <a:r>
              <a:rPr lang="en-US" sz="1500" dirty="0">
                <a:solidFill>
                  <a:srgbClr val="222222"/>
                </a:solidFill>
                <a:latin typeface="Calibri" pitchFamily="34" charset="0"/>
                <a:ea typeface="Calibri" pitchFamily="34" charset="-122"/>
                <a:cs typeface="Calibri" pitchFamily="34" charset="-120"/>
              </a:rPr>
              <a:t>2:00 Terminal: python tests/check_outputs.py, then the score.py command</a:t>
            </a:r>
            <a:endParaRPr lang="en-US" sz="1500" dirty="0"/>
          </a:p>
          <a:p>
            <a:pPr marL="342900" indent="-342900">
              <a:spcAft>
                <a:spcPts val="600"/>
              </a:spcAft>
              <a:buSzPct val="100000"/>
              <a:buChar char="•"/>
            </a:pPr>
            <a:r>
              <a:rPr lang="en-US" sz="1500" dirty="0">
                <a:solidFill>
                  <a:srgbClr val="222222"/>
                </a:solidFill>
                <a:latin typeface="Calibri" pitchFamily="34" charset="0"/>
                <a:ea typeface="Calibri" pitchFamily="34" charset="-122"/>
                <a:cs typeface="Calibri" pitchFamily="34" charset="-120"/>
              </a:rPr>
              <a:t>2:30 Show features.py / model.py / validation.py briefly (slide 8); close with risks</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Freight Rate Prediction - Loom walkthrough</dc:title>
  <dc:subject>PptxGenJS Presentation</dc:subject>
  <dc:creator>PptxGenJS</dc:creator>
  <cp:lastModifiedBy>PptxGenJS</cp:lastModifiedBy>
  <cp:revision>1</cp:revision>
  <dcterms:created xsi:type="dcterms:W3CDTF">2026-10-11T14:05:43Z</dcterms:created>
  <dcterms:modified xsi:type="dcterms:W3CDTF">2026-10-11T14:05:43Z</dcterms:modified>
</cp:coreProperties>
</file>